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00"/>
    <a:srgbClr val="FFFF00"/>
    <a:srgbClr val="0000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22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9AD91BC-82FA-0D02-1DF4-9C65AF2438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20C1261-F24A-C4FA-973A-08883C9661A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BED439E-B108-296A-3E21-759A96CFC5A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A423BA1-D89B-A212-41F9-90C76542E8A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23897F9-C9E0-4598-ACFC-F0E4A1D6612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C125C1F-581B-59D1-E662-D4976709EE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1570065-0029-757C-AF2B-96FB22E454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D7A900A-FEFE-9AAF-1D03-813E3D3CB50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FCF8FA1E-DAFC-FC94-C421-DCA3ABDD970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98005E8E-0E8D-61E2-0C18-69D5BE950E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B70BFDB8-53F2-3367-02F2-394319168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2CC8149-B549-45E2-90DF-0DE74AFEA98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199208" y="1752600"/>
            <a:ext cx="5143502" cy="1828800"/>
          </a:xfrm>
        </p:spPr>
        <p:txBody>
          <a:bodyPr rtlCol="0" anchor="b">
            <a:normAutofit/>
          </a:bodyPr>
          <a:lstStyle>
            <a:lvl1pPr algn="l" rtl="0">
              <a:defRPr sz="405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99207" y="3733800"/>
            <a:ext cx="5143502" cy="9144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64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63C2FC4E-34E4-40F9-ABAB-D5697E834996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49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99210" y="1828800"/>
            <a:ext cx="5143502" cy="1828800"/>
          </a:xfrm>
        </p:spPr>
        <p:txBody>
          <a:bodyPr rtlCol="0" anchor="b">
            <a:normAutofit/>
          </a:bodyPr>
          <a:lstStyle>
            <a:lvl1pPr algn="l" rtl="0">
              <a:defRPr sz="33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3199207" y="3733800"/>
            <a:ext cx="5143502" cy="9144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4061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98909" y="1825625"/>
            <a:ext cx="3715941" cy="4187952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713561" cy="4187952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69B24C3F-7B32-42D5-BFAB-52DEF58DA40F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4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02386" y="1681163"/>
            <a:ext cx="3717036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1800" b="1"/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02386" y="2505076"/>
            <a:ext cx="3717036" cy="3476625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717036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1800" b="1"/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717036" cy="3476625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7A0A27BC-89D2-4066-BD29-E3D715B7E340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2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29242B94-22E6-49EE-946B-0C8282FCEE7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90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47FD5D97-3E03-4C43-8938-449F3C0CE754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14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798909" y="304799"/>
            <a:ext cx="7543802" cy="1216152"/>
          </a:xfrm>
        </p:spPr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9" name="Groupe 8"/>
          <p:cNvGrpSpPr/>
          <p:nvPr/>
        </p:nvGrpSpPr>
        <p:grpSpPr>
          <a:xfrm>
            <a:off x="789317" y="1733550"/>
            <a:ext cx="3270377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0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4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6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7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1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6" name="Espace réservé d’image 33" descr="Espace réservé vide pour ajouter une image. Cliquez sur l’espace réservé et sélectionnez l’image à ajouter."/>
          <p:cNvSpPr>
            <a:spLocks noGrp="1" noChangeAspect="1"/>
          </p:cNvSpPr>
          <p:nvPr>
            <p:ph type="pic" sz="quarter" idx="17"/>
          </p:nvPr>
        </p:nvSpPr>
        <p:spPr>
          <a:xfrm>
            <a:off x="948771" y="1900210"/>
            <a:ext cx="2951652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9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89317" y="4935990"/>
            <a:ext cx="3276735" cy="100761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grpSp>
        <p:nvGrpSpPr>
          <p:cNvPr id="22" name="Groupe 21"/>
          <p:cNvGrpSpPr/>
          <p:nvPr/>
        </p:nvGrpSpPr>
        <p:grpSpPr>
          <a:xfrm>
            <a:off x="5072334" y="1733550"/>
            <a:ext cx="3270377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23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4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5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6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7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8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9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0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1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2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3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4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7" name="Espace réservé d’image 33" descr="Espace réservé vide pour ajouter une image. Cliquez sur l’espace réservé et sélectionnez l’image à ajouter."/>
          <p:cNvSpPr>
            <a:spLocks noGrp="1" noChangeAspect="1"/>
          </p:cNvSpPr>
          <p:nvPr>
            <p:ph type="pic" sz="quarter" idx="18"/>
          </p:nvPr>
        </p:nvSpPr>
        <p:spPr>
          <a:xfrm>
            <a:off x="5231788" y="1900210"/>
            <a:ext cx="2951652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0" name="Espace réservé du texte 3"/>
          <p:cNvSpPr>
            <a:spLocks noGrp="1"/>
          </p:cNvSpPr>
          <p:nvPr>
            <p:ph type="body" sz="half" idx="19"/>
          </p:nvPr>
        </p:nvSpPr>
        <p:spPr>
          <a:xfrm>
            <a:off x="5057181" y="4935990"/>
            <a:ext cx="3276735" cy="100761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29242B94-22E6-49EE-946B-0C8282FCEE7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4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52" name="Groupe 51"/>
          <p:cNvGrpSpPr>
            <a:grpSpLocks noChangeAspect="1"/>
          </p:cNvGrpSpPr>
          <p:nvPr/>
        </p:nvGrpSpPr>
        <p:grpSpPr>
          <a:xfrm rot="5400000">
            <a:off x="393436" y="2064321"/>
            <a:ext cx="3123347" cy="231729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53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4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5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6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7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8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9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0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1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2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3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4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79" name="Espace réservé d’image 33" descr="Espace réservé vide pour ajouter une image. Cliquez sur l’espace réservé et sélectionnez l’image à ajouter."/>
          <p:cNvSpPr>
            <a:spLocks noGrp="1"/>
          </p:cNvSpPr>
          <p:nvPr>
            <p:ph type="pic" sz="quarter" idx="19"/>
          </p:nvPr>
        </p:nvSpPr>
        <p:spPr>
          <a:xfrm>
            <a:off x="936876" y="1824285"/>
            <a:ext cx="2036467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1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26409" y="4947405"/>
            <a:ext cx="2057400" cy="9144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grpSp>
        <p:nvGrpSpPr>
          <p:cNvPr id="84" name="Groupe 83"/>
          <p:cNvGrpSpPr>
            <a:grpSpLocks noChangeAspect="1"/>
          </p:cNvGrpSpPr>
          <p:nvPr/>
        </p:nvGrpSpPr>
        <p:grpSpPr>
          <a:xfrm rot="5400000">
            <a:off x="2997433" y="2064321"/>
            <a:ext cx="3123347" cy="231729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6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7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8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9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0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1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2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3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4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5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6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78" name="Espace réservé d’image 33" descr="Espace réservé vide pour ajouter une image. Cliquez sur l’espace réservé et sélectionnez l’image à ajouter."/>
          <p:cNvSpPr>
            <a:spLocks noGrp="1"/>
          </p:cNvSpPr>
          <p:nvPr>
            <p:ph type="pic" sz="quarter" idx="18"/>
          </p:nvPr>
        </p:nvSpPr>
        <p:spPr>
          <a:xfrm>
            <a:off x="3540693" y="1824285"/>
            <a:ext cx="2036826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2" name="Espace réservé du texte 3"/>
          <p:cNvSpPr>
            <a:spLocks noGrp="1"/>
          </p:cNvSpPr>
          <p:nvPr>
            <p:ph type="body" sz="half" idx="21"/>
          </p:nvPr>
        </p:nvSpPr>
        <p:spPr>
          <a:xfrm>
            <a:off x="3530406" y="4947405"/>
            <a:ext cx="2057400" cy="9144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grpSp>
        <p:nvGrpSpPr>
          <p:cNvPr id="97" name="Groupe 96"/>
          <p:cNvGrpSpPr>
            <a:grpSpLocks noChangeAspect="1"/>
          </p:cNvGrpSpPr>
          <p:nvPr/>
        </p:nvGrpSpPr>
        <p:grpSpPr>
          <a:xfrm rot="5400000">
            <a:off x="5623839" y="2064321"/>
            <a:ext cx="3123347" cy="231729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8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9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0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1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2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3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4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5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6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7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8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9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80" name="Espace réservé d’image 33" descr="Espace réservé vide pour ajouter une image. Cliquez sur l’espace réservé et sélectionnez l’image à ajouter."/>
          <p:cNvSpPr>
            <a:spLocks noGrp="1"/>
          </p:cNvSpPr>
          <p:nvPr>
            <p:ph type="pic" sz="quarter" idx="20"/>
          </p:nvPr>
        </p:nvSpPr>
        <p:spPr>
          <a:xfrm>
            <a:off x="6167099" y="1824285"/>
            <a:ext cx="2036826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3" name="Espace réservé du texte 3"/>
          <p:cNvSpPr>
            <a:spLocks noGrp="1"/>
          </p:cNvSpPr>
          <p:nvPr>
            <p:ph type="body" sz="half" idx="22"/>
          </p:nvPr>
        </p:nvSpPr>
        <p:spPr>
          <a:xfrm>
            <a:off x="6156812" y="4947405"/>
            <a:ext cx="2057400" cy="9144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29242B94-22E6-49EE-946B-0C8282FCEE7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46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rois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6799661" y="421594"/>
            <a:ext cx="1714500" cy="1885508"/>
          </a:xfrm>
        </p:spPr>
        <p:txBody>
          <a:bodyPr rtlCol="0">
            <a:normAutofit/>
          </a:bodyPr>
          <a:lstStyle>
            <a:lvl1pPr algn="l" rtl="0">
              <a:defRPr sz="18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84" name="Groupe 83"/>
          <p:cNvGrpSpPr>
            <a:grpSpLocks noChangeAspect="1"/>
          </p:cNvGrpSpPr>
          <p:nvPr/>
        </p:nvGrpSpPr>
        <p:grpSpPr>
          <a:xfrm rot="16200000" flipV="1">
            <a:off x="-425972" y="1653786"/>
            <a:ext cx="5053664" cy="3308889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6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7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8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9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0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1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2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3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4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5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6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97" name="Espace réservé d’image 33" descr="Espace réservé vide pour ajouter une image. Cliquez sur l’espace réservé et sélectionnez l’image à ajouter."/>
          <p:cNvSpPr>
            <a:spLocks noGrp="1"/>
          </p:cNvSpPr>
          <p:nvPr>
            <p:ph type="pic" sz="quarter" idx="17"/>
          </p:nvPr>
        </p:nvSpPr>
        <p:spPr>
          <a:xfrm>
            <a:off x="630596" y="1020193"/>
            <a:ext cx="2914650" cy="4572000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grpSp>
        <p:nvGrpSpPr>
          <p:cNvPr id="98" name="Groupe 97"/>
          <p:cNvGrpSpPr/>
          <p:nvPr/>
        </p:nvGrpSpPr>
        <p:grpSpPr>
          <a:xfrm>
            <a:off x="3991867" y="319177"/>
            <a:ext cx="2542205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9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0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1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2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3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4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5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6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7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8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9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0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111" name="Espace réservé d’image 33" descr="Espace réservé vide pour ajouter une image. Cliquez sur l’espace réservé et sélectionnez l’image à ajouter."/>
          <p:cNvSpPr>
            <a:spLocks noGrp="1" noChangeAspect="1"/>
          </p:cNvSpPr>
          <p:nvPr>
            <p:ph type="pic" sz="quarter" idx="18"/>
          </p:nvPr>
        </p:nvSpPr>
        <p:spPr>
          <a:xfrm>
            <a:off x="4160085" y="529603"/>
            <a:ext cx="2245025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grpSp>
        <p:nvGrpSpPr>
          <p:cNvPr id="112" name="Groupe 111"/>
          <p:cNvGrpSpPr/>
          <p:nvPr/>
        </p:nvGrpSpPr>
        <p:grpSpPr>
          <a:xfrm>
            <a:off x="3991867" y="3245640"/>
            <a:ext cx="2542205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13" name="Forme libre 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4" name="Forme libre 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5" name="Forme libre 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6" name="Forme libre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7" name="Forme libre 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8" name="Forme libre 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19" name="Forme libre 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0" name="Forme libre 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1" name="Forme libre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2" name="Forme libre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3" name="Forme libre 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4" name="Forme libre 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125" name="Espace réservé d’image 33" descr="Espace réservé vide pour ajouter une image. Cliquez sur l’espace réservé et sélectionnez l’image à ajouter."/>
          <p:cNvSpPr>
            <a:spLocks noGrp="1" noChangeAspect="1"/>
          </p:cNvSpPr>
          <p:nvPr>
            <p:ph type="pic" sz="quarter" idx="19"/>
          </p:nvPr>
        </p:nvSpPr>
        <p:spPr>
          <a:xfrm>
            <a:off x="4160085" y="3456066"/>
            <a:ext cx="2245025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6" name="Espace réservé du texte 3"/>
          <p:cNvSpPr>
            <a:spLocks noGrp="1"/>
          </p:cNvSpPr>
          <p:nvPr>
            <p:ph type="body" sz="half" idx="21"/>
          </p:nvPr>
        </p:nvSpPr>
        <p:spPr>
          <a:xfrm>
            <a:off x="6799661" y="2484993"/>
            <a:ext cx="1714500" cy="3248729"/>
          </a:xfrm>
        </p:spPr>
        <p:txBody>
          <a:bodyPr rtlCol="0" anchor="t" anchorCtr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20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29242B94-22E6-49EE-946B-0C8282FCEE7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30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33799" y="1330347"/>
            <a:ext cx="2880360" cy="2103120"/>
          </a:xfrm>
        </p:spPr>
        <p:txBody>
          <a:bodyPr rtlCol="0" anchor="b">
            <a:normAutofit/>
          </a:bodyPr>
          <a:lstStyle>
            <a:lvl1pPr algn="l" rtl="0">
              <a:defRPr sz="27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7460" y="914400"/>
            <a:ext cx="4629151" cy="5029200"/>
          </a:xfrm>
        </p:spPr>
        <p:txBody>
          <a:bodyPr rtlCol="0">
            <a:normAutofit/>
          </a:bodyPr>
          <a:lstStyle>
            <a:lvl1pPr algn="l" rtl="0">
              <a:defRPr sz="1800"/>
            </a:lvl1pPr>
            <a:lvl2pPr algn="l" rtl="0">
              <a:defRPr sz="1500"/>
            </a:lvl2pPr>
            <a:lvl3pPr algn="l" rtl="0">
              <a:defRPr sz="1350"/>
            </a:lvl3pPr>
            <a:lvl4pPr algn="l" rtl="0">
              <a:defRPr sz="1200"/>
            </a:lvl4pPr>
            <a:lvl5pPr algn="l" rtl="0">
              <a:defRPr sz="1200"/>
            </a:lvl5pPr>
            <a:lvl6pPr algn="l" rtl="0">
              <a:defRPr sz="1500"/>
            </a:lvl6pPr>
            <a:lvl7pPr algn="l" rtl="0">
              <a:defRPr sz="1500"/>
            </a:lvl7pPr>
            <a:lvl8pPr algn="l" rtl="0">
              <a:defRPr sz="1500"/>
            </a:lvl8pPr>
            <a:lvl9pPr algn="l" rtl="0">
              <a:defRPr sz="15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5633799" y="3555524"/>
            <a:ext cx="2880360" cy="2388077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>
          <a:xfrm>
            <a:off x="798910" y="6019801"/>
            <a:ext cx="571500" cy="228600"/>
          </a:xfrm>
        </p:spPr>
        <p:txBody>
          <a:bodyPr rtlCol="0"/>
          <a:lstStyle>
            <a:lvl1pPr algn="l" rtl="0">
              <a:defRPr/>
            </a:lvl1pPr>
          </a:lstStyle>
          <a:p>
            <a:pPr>
              <a:defRPr/>
            </a:pPr>
            <a:fld id="{280E3BE4-00FB-47E1-92EF-CD4F66E04CE2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>
          <a:xfrm>
            <a:off x="6056708" y="6019801"/>
            <a:ext cx="1047195" cy="228600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16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5619668" y="1330347"/>
            <a:ext cx="2880360" cy="2103120"/>
          </a:xfrm>
        </p:spPr>
        <p:txBody>
          <a:bodyPr rtlCol="0" anchor="b">
            <a:normAutofit/>
          </a:bodyPr>
          <a:lstStyle>
            <a:lvl1pPr algn="l" rtl="0">
              <a:defRPr sz="27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grpSp>
        <p:nvGrpSpPr>
          <p:cNvPr id="8" name="Groupe 7"/>
          <p:cNvGrpSpPr/>
          <p:nvPr/>
        </p:nvGrpSpPr>
        <p:grpSpPr>
          <a:xfrm>
            <a:off x="446659" y="781399"/>
            <a:ext cx="4825049" cy="5053665"/>
            <a:chOff x="5162444" y="781398"/>
            <a:chExt cx="6433398" cy="5053665"/>
          </a:xfrm>
        </p:grpSpPr>
        <p:sp>
          <p:nvSpPr>
            <p:cNvPr id="9" name="Forme libre 42"/>
            <p:cNvSpPr>
              <a:spLocks/>
            </p:cNvSpPr>
            <p:nvPr/>
          </p:nvSpPr>
          <p:spPr bwMode="auto">
            <a:xfrm rot="16200000" flipV="1">
              <a:off x="3342557" y="3275021"/>
              <a:ext cx="3827994" cy="17568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" name="Forme libre 43"/>
            <p:cNvSpPr>
              <a:spLocks/>
            </p:cNvSpPr>
            <p:nvPr/>
          </p:nvSpPr>
          <p:spPr bwMode="auto">
            <a:xfrm rot="16200000" flipV="1">
              <a:off x="9565728" y="3299447"/>
              <a:ext cx="3836876" cy="17568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1" name="Groupe 10"/>
            <p:cNvGrpSpPr/>
            <p:nvPr/>
          </p:nvGrpSpPr>
          <p:grpSpPr>
            <a:xfrm>
              <a:off x="5814205" y="859113"/>
              <a:ext cx="5129146" cy="4880471"/>
              <a:chOff x="7856559" y="859113"/>
              <a:chExt cx="3086791" cy="4880471"/>
            </a:xfrm>
          </p:grpSpPr>
          <p:sp>
            <p:nvSpPr>
              <p:cNvPr id="20" name="Forme libre 41"/>
              <p:cNvSpPr>
                <a:spLocks/>
              </p:cNvSpPr>
              <p:nvPr/>
            </p:nvSpPr>
            <p:spPr bwMode="auto">
              <a:xfrm rot="16200000" flipV="1">
                <a:off x="9392183" y="4188416"/>
                <a:ext cx="15544" cy="3086791"/>
              </a:xfrm>
              <a:custGeom>
                <a:avLst/>
                <a:gdLst>
                  <a:gd name="T0" fmla="*/ 3 w 5"/>
                  <a:gd name="T1" fmla="*/ 0 h 868"/>
                  <a:gd name="T2" fmla="*/ 4 w 5"/>
                  <a:gd name="T3" fmla="*/ 217 h 868"/>
                  <a:gd name="T4" fmla="*/ 3 w 5"/>
                  <a:gd name="T5" fmla="*/ 326 h 868"/>
                  <a:gd name="T6" fmla="*/ 4 w 5"/>
                  <a:gd name="T7" fmla="*/ 434 h 868"/>
                  <a:gd name="T8" fmla="*/ 4 w 5"/>
                  <a:gd name="T9" fmla="*/ 651 h 868"/>
                  <a:gd name="T10" fmla="*/ 4 w 5"/>
                  <a:gd name="T11" fmla="*/ 760 h 868"/>
                  <a:gd name="T12" fmla="*/ 3 w 5"/>
                  <a:gd name="T13" fmla="*/ 868 h 868"/>
                  <a:gd name="T14" fmla="*/ 2 w 5"/>
                  <a:gd name="T15" fmla="*/ 868 h 868"/>
                  <a:gd name="T16" fmla="*/ 1 w 5"/>
                  <a:gd name="T17" fmla="*/ 760 h 868"/>
                  <a:gd name="T18" fmla="*/ 0 w 5"/>
                  <a:gd name="T19" fmla="*/ 651 h 868"/>
                  <a:gd name="T20" fmla="*/ 1 w 5"/>
                  <a:gd name="T21" fmla="*/ 434 h 868"/>
                  <a:gd name="T22" fmla="*/ 2 w 5"/>
                  <a:gd name="T23" fmla="*/ 326 h 868"/>
                  <a:gd name="T24" fmla="*/ 1 w 5"/>
                  <a:gd name="T25" fmla="*/ 217 h 868"/>
                  <a:gd name="T26" fmla="*/ 2 w 5"/>
                  <a:gd name="T27" fmla="*/ 0 h 868"/>
                  <a:gd name="T28" fmla="*/ 3 w 5"/>
                  <a:gd name="T29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868">
                    <a:moveTo>
                      <a:pt x="3" y="0"/>
                    </a:moveTo>
                    <a:cubicBezTo>
                      <a:pt x="4" y="73"/>
                      <a:pt x="4" y="145"/>
                      <a:pt x="4" y="217"/>
                    </a:cubicBezTo>
                    <a:cubicBezTo>
                      <a:pt x="4" y="253"/>
                      <a:pt x="3" y="290"/>
                      <a:pt x="3" y="326"/>
                    </a:cubicBezTo>
                    <a:cubicBezTo>
                      <a:pt x="3" y="362"/>
                      <a:pt x="3" y="398"/>
                      <a:pt x="4" y="434"/>
                    </a:cubicBezTo>
                    <a:cubicBezTo>
                      <a:pt x="4" y="507"/>
                      <a:pt x="5" y="579"/>
                      <a:pt x="4" y="651"/>
                    </a:cubicBezTo>
                    <a:cubicBezTo>
                      <a:pt x="5" y="687"/>
                      <a:pt x="4" y="724"/>
                      <a:pt x="4" y="760"/>
                    </a:cubicBezTo>
                    <a:cubicBezTo>
                      <a:pt x="4" y="796"/>
                      <a:pt x="3" y="832"/>
                      <a:pt x="3" y="868"/>
                    </a:cubicBezTo>
                    <a:cubicBezTo>
                      <a:pt x="2" y="868"/>
                      <a:pt x="2" y="868"/>
                      <a:pt x="2" y="868"/>
                    </a:cubicBezTo>
                    <a:cubicBezTo>
                      <a:pt x="2" y="832"/>
                      <a:pt x="1" y="796"/>
                      <a:pt x="1" y="760"/>
                    </a:cubicBezTo>
                    <a:cubicBezTo>
                      <a:pt x="1" y="724"/>
                      <a:pt x="0" y="687"/>
                      <a:pt x="0" y="651"/>
                    </a:cubicBezTo>
                    <a:cubicBezTo>
                      <a:pt x="0" y="579"/>
                      <a:pt x="1" y="507"/>
                      <a:pt x="1" y="434"/>
                    </a:cubicBezTo>
                    <a:cubicBezTo>
                      <a:pt x="2" y="398"/>
                      <a:pt x="2" y="362"/>
                      <a:pt x="2" y="326"/>
                    </a:cubicBezTo>
                    <a:cubicBezTo>
                      <a:pt x="2" y="290"/>
                      <a:pt x="1" y="253"/>
                      <a:pt x="1" y="217"/>
                    </a:cubicBezTo>
                    <a:cubicBezTo>
                      <a:pt x="0" y="145"/>
                      <a:pt x="1" y="73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" name="Forme libre 44"/>
              <p:cNvSpPr>
                <a:spLocks/>
              </p:cNvSpPr>
              <p:nvPr/>
            </p:nvSpPr>
            <p:spPr bwMode="auto">
              <a:xfrm rot="16200000" flipV="1">
                <a:off x="9366943" y="-651271"/>
                <a:ext cx="13322" cy="3034090"/>
              </a:xfrm>
              <a:custGeom>
                <a:avLst/>
                <a:gdLst>
                  <a:gd name="T0" fmla="*/ 2 w 4"/>
                  <a:gd name="T1" fmla="*/ 853 h 853"/>
                  <a:gd name="T2" fmla="*/ 0 w 4"/>
                  <a:gd name="T3" fmla="*/ 640 h 853"/>
                  <a:gd name="T4" fmla="*/ 1 w 4"/>
                  <a:gd name="T5" fmla="*/ 533 h 853"/>
                  <a:gd name="T6" fmla="*/ 1 w 4"/>
                  <a:gd name="T7" fmla="*/ 427 h 853"/>
                  <a:gd name="T8" fmla="*/ 0 w 4"/>
                  <a:gd name="T9" fmla="*/ 213 h 853"/>
                  <a:gd name="T10" fmla="*/ 0 w 4"/>
                  <a:gd name="T11" fmla="*/ 107 h 853"/>
                  <a:gd name="T12" fmla="*/ 2 w 4"/>
                  <a:gd name="T13" fmla="*/ 0 h 853"/>
                  <a:gd name="T14" fmla="*/ 2 w 4"/>
                  <a:gd name="T15" fmla="*/ 0 h 853"/>
                  <a:gd name="T16" fmla="*/ 3 w 4"/>
                  <a:gd name="T17" fmla="*/ 107 h 853"/>
                  <a:gd name="T18" fmla="*/ 4 w 4"/>
                  <a:gd name="T19" fmla="*/ 213 h 853"/>
                  <a:gd name="T20" fmla="*/ 3 w 4"/>
                  <a:gd name="T21" fmla="*/ 427 h 853"/>
                  <a:gd name="T22" fmla="*/ 2 w 4"/>
                  <a:gd name="T23" fmla="*/ 533 h 853"/>
                  <a:gd name="T24" fmla="*/ 3 w 4"/>
                  <a:gd name="T25" fmla="*/ 640 h 853"/>
                  <a:gd name="T26" fmla="*/ 2 w 4"/>
                  <a:gd name="T27" fmla="*/ 853 h 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53">
                    <a:moveTo>
                      <a:pt x="2" y="853"/>
                    </a:moveTo>
                    <a:cubicBezTo>
                      <a:pt x="0" y="782"/>
                      <a:pt x="0" y="711"/>
                      <a:pt x="0" y="640"/>
                    </a:cubicBezTo>
                    <a:cubicBezTo>
                      <a:pt x="0" y="604"/>
                      <a:pt x="1" y="569"/>
                      <a:pt x="1" y="533"/>
                    </a:cubicBezTo>
                    <a:cubicBezTo>
                      <a:pt x="1" y="498"/>
                      <a:pt x="1" y="462"/>
                      <a:pt x="1" y="427"/>
                    </a:cubicBezTo>
                    <a:cubicBezTo>
                      <a:pt x="0" y="356"/>
                      <a:pt x="0" y="284"/>
                      <a:pt x="0" y="213"/>
                    </a:cubicBezTo>
                    <a:cubicBezTo>
                      <a:pt x="0" y="178"/>
                      <a:pt x="0" y="142"/>
                      <a:pt x="0" y="107"/>
                    </a:cubicBezTo>
                    <a:cubicBezTo>
                      <a:pt x="1" y="71"/>
                      <a:pt x="1" y="36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36"/>
                      <a:pt x="3" y="71"/>
                      <a:pt x="3" y="107"/>
                    </a:cubicBezTo>
                    <a:cubicBezTo>
                      <a:pt x="4" y="142"/>
                      <a:pt x="4" y="178"/>
                      <a:pt x="4" y="213"/>
                    </a:cubicBezTo>
                    <a:cubicBezTo>
                      <a:pt x="4" y="284"/>
                      <a:pt x="3" y="356"/>
                      <a:pt x="3" y="427"/>
                    </a:cubicBezTo>
                    <a:cubicBezTo>
                      <a:pt x="3" y="462"/>
                      <a:pt x="2" y="498"/>
                      <a:pt x="2" y="533"/>
                    </a:cubicBezTo>
                    <a:cubicBezTo>
                      <a:pt x="3" y="569"/>
                      <a:pt x="3" y="604"/>
                      <a:pt x="3" y="640"/>
                    </a:cubicBezTo>
                    <a:cubicBezTo>
                      <a:pt x="4" y="711"/>
                      <a:pt x="3" y="782"/>
                      <a:pt x="2" y="8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  <p:sp>
          <p:nvSpPr>
            <p:cNvPr id="12" name="Forme libre 45"/>
            <p:cNvSpPr>
              <a:spLocks noEditPoints="1"/>
            </p:cNvSpPr>
            <p:nvPr/>
          </p:nvSpPr>
          <p:spPr bwMode="auto">
            <a:xfrm rot="16200000" flipV="1">
              <a:off x="5186001" y="5323012"/>
              <a:ext cx="477390" cy="524504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" name="Forme libre 46"/>
            <p:cNvSpPr>
              <a:spLocks noEditPoints="1"/>
            </p:cNvSpPr>
            <p:nvPr/>
          </p:nvSpPr>
          <p:spPr bwMode="auto">
            <a:xfrm rot="16200000" flipV="1">
              <a:off x="5197295" y="5324846"/>
              <a:ext cx="477390" cy="511956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4" name="Forme libre 47"/>
            <p:cNvSpPr>
              <a:spLocks noEditPoints="1"/>
            </p:cNvSpPr>
            <p:nvPr/>
          </p:nvSpPr>
          <p:spPr bwMode="auto">
            <a:xfrm rot="16200000" flipV="1">
              <a:off x="11076843" y="5321082"/>
              <a:ext cx="508476" cy="519485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" name="Forme libre 48"/>
            <p:cNvSpPr>
              <a:spLocks noEditPoints="1"/>
            </p:cNvSpPr>
            <p:nvPr/>
          </p:nvSpPr>
          <p:spPr bwMode="auto">
            <a:xfrm rot="16200000" flipV="1">
              <a:off x="11093207" y="5321324"/>
              <a:ext cx="470728" cy="534543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6" name="Forme libre 49"/>
            <p:cNvSpPr>
              <a:spLocks noEditPoints="1"/>
            </p:cNvSpPr>
            <p:nvPr/>
          </p:nvSpPr>
          <p:spPr bwMode="auto">
            <a:xfrm rot="16200000" flipV="1">
              <a:off x="11051654" y="771453"/>
              <a:ext cx="468508" cy="519485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7" name="Forme libre 50"/>
            <p:cNvSpPr>
              <a:spLocks noEditPoints="1"/>
            </p:cNvSpPr>
            <p:nvPr/>
          </p:nvSpPr>
          <p:spPr bwMode="auto">
            <a:xfrm rot="16200000" flipV="1">
              <a:off x="11044126" y="786511"/>
              <a:ext cx="468508" cy="489370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 51"/>
            <p:cNvSpPr>
              <a:spLocks noEditPoints="1"/>
            </p:cNvSpPr>
            <p:nvPr/>
          </p:nvSpPr>
          <p:spPr bwMode="auto">
            <a:xfrm rot="16200000" flipV="1">
              <a:off x="5232723" y="721157"/>
              <a:ext cx="424100" cy="544581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 52"/>
            <p:cNvSpPr>
              <a:spLocks noEditPoints="1"/>
            </p:cNvSpPr>
            <p:nvPr/>
          </p:nvSpPr>
          <p:spPr bwMode="auto">
            <a:xfrm rot="16200000" flipV="1">
              <a:off x="5241796" y="749729"/>
              <a:ext cx="428541" cy="491879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627460" y="1031195"/>
            <a:ext cx="4457700" cy="4572000"/>
          </a:xfr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txBody>
          <a:bodyPr rtlCol="0"/>
          <a:lstStyle>
            <a:lvl1pPr marL="0" indent="0" algn="l" rtl="0">
              <a:buNone/>
              <a:defRPr sz="2400"/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5619668" y="3555522"/>
            <a:ext cx="2880360" cy="2168517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1B44584F-3C95-4B38-A1B4-F5B76CB9F018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DE1011FE-BD2D-4405-9735-EE73870C5E3B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3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7218202" y="304800"/>
            <a:ext cx="1297148" cy="5676900"/>
          </a:xfrm>
        </p:spPr>
        <p:txBody>
          <a:bodyPr vert="eaVert"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6475253" cy="5676900"/>
          </a:xfrm>
        </p:spPr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>
              <a:defRPr/>
            </a:pPr>
            <a:fld id="{D983D9F7-E320-4201-96EE-2F5101450087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0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64FA9-90CE-B318-2DD5-18AA595F8B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B62DE9-FEFA-A79F-1C88-423E52333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C2103-0D4A-0897-4FCC-5663867C5B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7C30E-929E-4B60-9B81-5522CCD8BBF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7562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798909" y="304800"/>
            <a:ext cx="75438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798911" y="1752600"/>
            <a:ext cx="75438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98910" y="6019801"/>
            <a:ext cx="5715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2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9242B94-22E6-49EE-946B-0C8282FCEE7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84710" y="6019801"/>
            <a:ext cx="44577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2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© Java - JB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6056708" y="6019801"/>
            <a:ext cx="104719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2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18ABCD9-5A3F-68BC-CB68-3FEE34912B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776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9054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60604" indent="-260604" algn="l" defTabSz="685800" rtl="0" eaLnBrk="1" latinLnBrk="0" hangingPunct="1">
        <a:lnSpc>
          <a:spcPct val="100000"/>
        </a:lnSpc>
        <a:spcBef>
          <a:spcPts val="13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55498" indent="-212598" algn="l" defTabSz="6858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E971065A-24CC-1114-2D26-8D91A20F69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55776" y="1964055"/>
            <a:ext cx="5900837" cy="1470025"/>
          </a:xfrm>
        </p:spPr>
        <p:txBody>
          <a:bodyPr/>
          <a:lstStyle/>
          <a:p>
            <a:pPr algn="ctr" eaLnBrk="1" hangingPunct="1"/>
            <a:r>
              <a:rPr lang="fr-FR" altLang="fr-FR" dirty="0">
                <a:solidFill>
                  <a:srgbClr val="0000FF"/>
                </a:solidFill>
              </a:rPr>
              <a:t>JAVA</a:t>
            </a:r>
            <a:br>
              <a:rPr lang="fr-FR" altLang="fr-FR" dirty="0">
                <a:solidFill>
                  <a:srgbClr val="0000FF"/>
                </a:solidFill>
              </a:rPr>
            </a:br>
            <a:r>
              <a:rPr lang="fr-FR" altLang="fr-FR" sz="2800" dirty="0">
                <a:solidFill>
                  <a:srgbClr val="0000FF"/>
                </a:solidFill>
              </a:rPr>
              <a:t>Eléments de programmation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386EB04F-812B-75AD-3A83-A2C34DF001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653966" y="3805793"/>
            <a:ext cx="3704456" cy="695325"/>
          </a:xfrm>
        </p:spPr>
        <p:txBody>
          <a:bodyPr/>
          <a:lstStyle/>
          <a:p>
            <a:pPr algn="ctr" eaLnBrk="1" hangingPunct="1"/>
            <a:r>
              <a:rPr lang="fr-FR" altLang="fr-FR" dirty="0">
                <a:solidFill>
                  <a:schemeClr val="folHlink"/>
                </a:solidFill>
              </a:rPr>
              <a:t>Structure du langage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026">
            <a:extLst>
              <a:ext uri="{FF2B5EF4-FFF2-40B4-BE49-F238E27FC236}">
                <a16:creationId xmlns:a16="http://schemas.microsoft.com/office/drawing/2014/main" id="{46F5541A-035F-7136-E93D-B0442251D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PLAN</a:t>
            </a:r>
          </a:p>
        </p:txBody>
      </p:sp>
      <p:sp>
        <p:nvSpPr>
          <p:cNvPr id="5125" name="Rectangle 1027">
            <a:extLst>
              <a:ext uri="{FF2B5EF4-FFF2-40B4-BE49-F238E27FC236}">
                <a16:creationId xmlns:a16="http://schemas.microsoft.com/office/drawing/2014/main" id="{B357C843-C2C5-F5D3-D950-7CC433C0F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Un exemple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Type de données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Variables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Affectations et initialisations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Opérateurs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Chaînes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Flux d’exécution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Tableaux</a:t>
            </a:r>
          </a:p>
          <a:p>
            <a:pPr marL="715963" indent="-441325" eaLnBrk="1" hangingPunct="1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ü"/>
            </a:pPr>
            <a:r>
              <a:rPr lang="fr-FR" altLang="fr-FR" sz="2400">
                <a:solidFill>
                  <a:srgbClr val="0000FF"/>
                </a:solidFill>
              </a:rPr>
              <a:t>Saisie clavier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CB1857F5-AA15-2156-3E7A-6341C279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Un exemple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CCF3A515-9087-4C78-1F05-1C062B1AE08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1628775"/>
            <a:ext cx="4038600" cy="197326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public class </a:t>
            </a:r>
            <a:r>
              <a:rPr lang="fr-FR" altLang="fr-FR" sz="1400" dirty="0" err="1">
                <a:solidFill>
                  <a:srgbClr val="FF9900"/>
                </a:solidFill>
              </a:rPr>
              <a:t>PremierExemple</a:t>
            </a:r>
            <a:endParaRPr lang="fr-FR" altLang="fr-FR" sz="1400" dirty="0">
              <a:solidFill>
                <a:srgbClr val="FF990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	public </a:t>
            </a:r>
            <a:r>
              <a:rPr lang="fr-FR" altLang="fr-FR" sz="1400" dirty="0" err="1">
                <a:solidFill>
                  <a:srgbClr val="FF9900"/>
                </a:solidFill>
              </a:rPr>
              <a:t>static</a:t>
            </a:r>
            <a:r>
              <a:rPr lang="fr-FR" altLang="fr-FR" sz="1400" dirty="0">
                <a:solidFill>
                  <a:srgbClr val="FF9900"/>
                </a:solidFill>
              </a:rPr>
              <a:t> </a:t>
            </a:r>
            <a:r>
              <a:rPr lang="fr-FR" altLang="fr-FR" sz="1400" dirty="0" err="1">
                <a:solidFill>
                  <a:srgbClr val="FF9900"/>
                </a:solidFill>
              </a:rPr>
              <a:t>void</a:t>
            </a:r>
            <a:r>
              <a:rPr lang="fr-FR" altLang="fr-FR" sz="1400" dirty="0">
                <a:solidFill>
                  <a:srgbClr val="FF9900"/>
                </a:solidFill>
              </a:rPr>
              <a:t> main(String[ ]args)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	    </a:t>
            </a:r>
            <a:r>
              <a:rPr lang="fr-FR" altLang="fr-FR" sz="1400" dirty="0" err="1">
                <a:solidFill>
                  <a:srgbClr val="FF9900"/>
                </a:solidFill>
              </a:rPr>
              <a:t>System.out.println</a:t>
            </a:r>
            <a:r>
              <a:rPr lang="fr-FR" altLang="fr-FR" sz="1400" dirty="0">
                <a:solidFill>
                  <a:srgbClr val="FF9900"/>
                </a:solidFill>
              </a:rPr>
              <a:t>(« Bonjour le monde »);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fr-FR" sz="1400" dirty="0">
                <a:solidFill>
                  <a:srgbClr val="FF9900"/>
                </a:solidFill>
              </a:rPr>
              <a:t>}</a:t>
            </a: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748E45F5-CAC4-6B16-4DE6-487AEEF398B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932363" y="908720"/>
            <a:ext cx="4038600" cy="432050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</a:rPr>
              <a:t>Public</a:t>
            </a:r>
            <a:r>
              <a:rPr lang="fr-FR" altLang="fr-FR" sz="1600" dirty="0"/>
              <a:t> </a:t>
            </a:r>
            <a:r>
              <a:rPr lang="fr-FR" altLang="fr-FR" sz="1600" dirty="0">
                <a:sym typeface="Wingdings" panose="05000000000000000000" pitchFamily="2" charset="2"/>
              </a:rPr>
              <a:t> modificateur d’accès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  <a:sym typeface="Wingdings" panose="05000000000000000000" pitchFamily="2" charset="2"/>
              </a:rPr>
              <a:t>Class</a:t>
            </a:r>
            <a:r>
              <a:rPr lang="fr-FR" altLang="fr-FR" sz="1600" dirty="0">
                <a:sym typeface="Wingdings" panose="05000000000000000000" pitchFamily="2" charset="2"/>
              </a:rPr>
              <a:t>  tout ce que l’on programme en JAVA se trouve à l’intérieur d’une classe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 err="1">
                <a:solidFill>
                  <a:srgbClr val="0000FF"/>
                </a:solidFill>
                <a:sym typeface="Wingdings" panose="05000000000000000000" pitchFamily="2" charset="2"/>
              </a:rPr>
              <a:t>PremierExemple</a:t>
            </a:r>
            <a:r>
              <a:rPr lang="fr-FR" altLang="fr-FR" sz="1600" dirty="0">
                <a:sym typeface="Wingdings" panose="05000000000000000000" pitchFamily="2" charset="2"/>
              </a:rPr>
              <a:t>  le nom de la classe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  <a:sym typeface="Wingdings" panose="05000000000000000000" pitchFamily="2" charset="2"/>
              </a:rPr>
              <a:t>{</a:t>
            </a:r>
            <a:r>
              <a:rPr lang="fr-FR" altLang="fr-FR" sz="1600" dirty="0">
                <a:sym typeface="Wingdings" panose="05000000000000000000" pitchFamily="2" charset="2"/>
              </a:rPr>
              <a:t>  délimiteur d’un bloc (ouverture)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  <a:sym typeface="Wingdings" panose="05000000000000000000" pitchFamily="2" charset="2"/>
              </a:rPr>
              <a:t>}</a:t>
            </a:r>
            <a:r>
              <a:rPr lang="fr-FR" altLang="fr-FR" sz="1600" dirty="0">
                <a:sym typeface="Wingdings" panose="05000000000000000000" pitchFamily="2" charset="2"/>
              </a:rPr>
              <a:t>  délimiteur d’un bloc (fermeture)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 err="1">
                <a:solidFill>
                  <a:srgbClr val="0000FF"/>
                </a:solidFill>
                <a:sym typeface="Wingdings" panose="05000000000000000000" pitchFamily="2" charset="2"/>
              </a:rPr>
              <a:t>Static</a:t>
            </a:r>
            <a:r>
              <a:rPr lang="fr-FR" altLang="fr-FR" sz="1600" dirty="0">
                <a:sym typeface="Wingdings" panose="05000000000000000000" pitchFamily="2" charset="2"/>
              </a:rPr>
              <a:t>  modificateur (1 seul par classe)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 err="1">
                <a:solidFill>
                  <a:srgbClr val="0000FF"/>
                </a:solidFill>
                <a:sym typeface="Wingdings" panose="05000000000000000000" pitchFamily="2" charset="2"/>
              </a:rPr>
              <a:t>Void</a:t>
            </a:r>
            <a:r>
              <a:rPr lang="fr-FR" altLang="fr-FR" sz="1600" dirty="0">
                <a:sym typeface="Wingdings" panose="05000000000000000000" pitchFamily="2" charset="2"/>
              </a:rPr>
              <a:t>  méthode qui ne renvoie rien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  <a:sym typeface="Wingdings" panose="05000000000000000000" pitchFamily="2" charset="2"/>
              </a:rPr>
              <a:t>Main</a:t>
            </a:r>
            <a:r>
              <a:rPr lang="fr-FR" altLang="fr-FR" sz="1600" dirty="0">
                <a:sym typeface="Wingdings" panose="05000000000000000000" pitchFamily="2" charset="2"/>
              </a:rPr>
              <a:t>  programme principal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altLang="fr-FR" sz="1600" dirty="0">
                <a:solidFill>
                  <a:srgbClr val="0000FF"/>
                </a:solidFill>
                <a:sym typeface="Wingdings" panose="05000000000000000000" pitchFamily="2" charset="2"/>
              </a:rPr>
              <a:t>Strings[ ] args</a:t>
            </a:r>
            <a:r>
              <a:rPr lang="fr-FR" altLang="fr-FR" sz="1600" dirty="0">
                <a:sym typeface="Wingdings" panose="05000000000000000000" pitchFamily="2" charset="2"/>
              </a:rPr>
              <a:t>  paramètre indiquant que la méthode main reçoit un tableau de chaînes, qui sont les arguments spécifiés sur la ligne de commande (java)</a:t>
            </a:r>
          </a:p>
        </p:txBody>
      </p:sp>
      <p:pic>
        <p:nvPicPr>
          <p:cNvPr id="6151" name="Picture 7" descr="j0293236">
            <a:extLst>
              <a:ext uri="{FF2B5EF4-FFF2-40B4-BE49-F238E27FC236}">
                <a16:creationId xmlns:a16="http://schemas.microsoft.com/office/drawing/2014/main" id="{686BA223-EAE8-B6AC-77BB-3A1D1BB7C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5361781"/>
            <a:ext cx="9175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8">
            <a:extLst>
              <a:ext uri="{FF2B5EF4-FFF2-40B4-BE49-F238E27FC236}">
                <a16:creationId xmlns:a16="http://schemas.microsoft.com/office/drawing/2014/main" id="{CF23C201-62B8-A5C1-EB33-164B85EE0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516563"/>
            <a:ext cx="5976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JAVA est sensible à la casse (Majuscules &amp; Minuscules)</a:t>
            </a:r>
          </a:p>
        </p:txBody>
      </p:sp>
      <p:sp>
        <p:nvSpPr>
          <p:cNvPr id="6153" name="AutoShape 9">
            <a:extLst>
              <a:ext uri="{FF2B5EF4-FFF2-40B4-BE49-F238E27FC236}">
                <a16:creationId xmlns:a16="http://schemas.microsoft.com/office/drawing/2014/main" id="{CD80C2DE-DDE0-0CCF-CC02-E205F4888562}"/>
              </a:ext>
            </a:extLst>
          </p:cNvPr>
          <p:cNvSpPr>
            <a:spLocks/>
          </p:cNvSpPr>
          <p:nvPr/>
        </p:nvSpPr>
        <p:spPr bwMode="auto">
          <a:xfrm rot="-5400000">
            <a:off x="2700338" y="1700213"/>
            <a:ext cx="215900" cy="2952750"/>
          </a:xfrm>
          <a:prstGeom prst="leftBrace">
            <a:avLst>
              <a:gd name="adj1" fmla="val 11397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6154" name="Text Box 10">
            <a:extLst>
              <a:ext uri="{FF2B5EF4-FFF2-40B4-BE49-F238E27FC236}">
                <a16:creationId xmlns:a16="http://schemas.microsoft.com/office/drawing/2014/main" id="{58DE1840-3569-485B-4BEB-EC35DCDF2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05263"/>
            <a:ext cx="4103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400">
                <a:solidFill>
                  <a:srgbClr val="FF3399"/>
                </a:solidFill>
              </a:rPr>
              <a:t>Nom de l’objet</a:t>
            </a:r>
            <a:r>
              <a:rPr lang="fr-FR" altLang="fr-FR" sz="2000">
                <a:solidFill>
                  <a:srgbClr val="FF3399"/>
                </a:solidFill>
              </a:rPr>
              <a:t>.</a:t>
            </a:r>
            <a:r>
              <a:rPr lang="fr-FR" altLang="fr-FR" sz="1400">
                <a:solidFill>
                  <a:srgbClr val="FF3399"/>
                </a:solidFill>
              </a:rPr>
              <a:t>nom de la méthode (paramètres)</a:t>
            </a:r>
          </a:p>
        </p:txBody>
      </p:sp>
      <p:sp>
        <p:nvSpPr>
          <p:cNvPr id="6155" name="AutoShape 11">
            <a:extLst>
              <a:ext uri="{FF2B5EF4-FFF2-40B4-BE49-F238E27FC236}">
                <a16:creationId xmlns:a16="http://schemas.microsoft.com/office/drawing/2014/main" id="{2FDCB127-B14E-2B56-C596-30DB203750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83644" y="3645694"/>
            <a:ext cx="576263" cy="142875"/>
          </a:xfrm>
          <a:prstGeom prst="rightArrow">
            <a:avLst>
              <a:gd name="adj1" fmla="val 50000"/>
              <a:gd name="adj2" fmla="val 10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7A95358A-F35B-A4B1-C5F5-C240BA6EA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Type de données</a:t>
            </a:r>
          </a:p>
        </p:txBody>
      </p:sp>
      <p:graphicFrame>
        <p:nvGraphicFramePr>
          <p:cNvPr id="13414" name="Group 102">
            <a:extLst>
              <a:ext uri="{FF2B5EF4-FFF2-40B4-BE49-F238E27FC236}">
                <a16:creationId xmlns:a16="http://schemas.microsoft.com/office/drawing/2014/main" id="{29D0ACA2-A5E6-4172-0FF3-C9DC234A6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691849"/>
              </p:ext>
            </p:extLst>
          </p:nvPr>
        </p:nvGraphicFramePr>
        <p:xfrm>
          <a:off x="611560" y="2348880"/>
          <a:ext cx="8229600" cy="34115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Occupation en mémoire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Intervalle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int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octets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-2147483648 à 2147483647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short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ocets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-32768 à 32767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5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long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ocets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-9223372036854775808L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à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-9223372036854775807L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byte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octet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-128 à 127</a:t>
                      </a: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73" name="Text Box 4">
            <a:extLst>
              <a:ext uri="{FF2B5EF4-FFF2-40B4-BE49-F238E27FC236}">
                <a16:creationId xmlns:a16="http://schemas.microsoft.com/office/drawing/2014/main" id="{75209DDB-70AC-2271-844F-0ABB35DD3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091" y="1707840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entiers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6D9B8465-C08F-6C69-D1CE-C124C3E08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Type de données</a:t>
            </a:r>
          </a:p>
        </p:txBody>
      </p:sp>
      <p:graphicFrame>
        <p:nvGraphicFramePr>
          <p:cNvPr id="16420" name="Group 36">
            <a:extLst>
              <a:ext uri="{FF2B5EF4-FFF2-40B4-BE49-F238E27FC236}">
                <a16:creationId xmlns:a16="http://schemas.microsoft.com/office/drawing/2014/main" id="{098B2D34-464D-FDAF-F804-B15BDE9BBB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5650" y="2636838"/>
          <a:ext cx="8229600" cy="1973263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Occupation en mémoire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Intervalle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float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octets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3.40282347E+38F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double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ocets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1.79769313486231570E+308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197" name="Text Box 3">
            <a:extLst>
              <a:ext uri="{FF2B5EF4-FFF2-40B4-BE49-F238E27FC236}">
                <a16:creationId xmlns:a16="http://schemas.microsoft.com/office/drawing/2014/main" id="{C5CDF53F-6A93-4475-F67D-4741CBF47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091" y="1772816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Virgule flottante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E6459042-63EE-BEC3-6596-308C9B61A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Type de données</a:t>
            </a:r>
          </a:p>
        </p:txBody>
      </p:sp>
      <p:graphicFrame>
        <p:nvGraphicFramePr>
          <p:cNvPr id="17482" name="Group 74">
            <a:extLst>
              <a:ext uri="{FF2B5EF4-FFF2-40B4-BE49-F238E27FC236}">
                <a16:creationId xmlns:a16="http://schemas.microsoft.com/office/drawing/2014/main" id="{D74F4AEE-8614-02AB-9A6D-3508C0042A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107188"/>
              </p:ext>
            </p:extLst>
          </p:nvPr>
        </p:nvGraphicFramePr>
        <p:xfrm>
          <a:off x="1835943" y="2204864"/>
          <a:ext cx="5184775" cy="4251329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Occupation en mémoire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char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octets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Caractères spéciaux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Code d’échappement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Désignation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Effacement arrière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Tabulation horizontale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Saut de ligne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Retour chariot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 "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Guillemets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\'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Apostrophe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\\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Antislash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221" name="Text Box 3">
            <a:extLst>
              <a:ext uri="{FF2B5EF4-FFF2-40B4-BE49-F238E27FC236}">
                <a16:creationId xmlns:a16="http://schemas.microsoft.com/office/drawing/2014/main" id="{E3870BB7-07EB-795A-74F0-FF571746F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1" y="1508656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caractères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2BB07544-0892-BBEE-CF59-7FB33B01F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Type de données</a:t>
            </a:r>
          </a:p>
        </p:txBody>
      </p:sp>
      <p:sp>
        <p:nvSpPr>
          <p:cNvPr id="10245" name="Text Box 3">
            <a:extLst>
              <a:ext uri="{FF2B5EF4-FFF2-40B4-BE49-F238E27FC236}">
                <a16:creationId xmlns:a16="http://schemas.microsoft.com/office/drawing/2014/main" id="{70D8515A-5E8D-DE0E-A637-C211FECFE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091" y="1740731"/>
            <a:ext cx="4897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chaînes de caractères</a:t>
            </a:r>
          </a:p>
        </p:txBody>
      </p:sp>
      <p:sp>
        <p:nvSpPr>
          <p:cNvPr id="10246" name="Rectangle 43">
            <a:extLst>
              <a:ext uri="{FF2B5EF4-FFF2-40B4-BE49-F238E27FC236}">
                <a16:creationId xmlns:a16="http://schemas.microsoft.com/office/drawing/2014/main" id="{57F41DEC-5267-2B3F-C265-2D73627D8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339398"/>
            <a:ext cx="8064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Le type </a:t>
            </a:r>
            <a:r>
              <a:rPr lang="fr-FR" altLang="fr-FR" sz="1800" dirty="0">
                <a:solidFill>
                  <a:srgbClr val="FF3399"/>
                </a:solidFill>
              </a:rPr>
              <a:t>String</a:t>
            </a:r>
            <a:r>
              <a:rPr lang="fr-FR" altLang="fr-FR" sz="1800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solidFill>
                  <a:schemeClr val="folHlink"/>
                </a:solidFill>
              </a:rPr>
              <a:t>	</a:t>
            </a:r>
            <a:endParaRPr lang="fr-FR" altLang="fr-FR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Ex.	String chaine = "Ceci est un exemple";</a:t>
            </a:r>
          </a:p>
        </p:txBody>
      </p:sp>
      <p:sp>
        <p:nvSpPr>
          <p:cNvPr id="10247" name="Text Box 44">
            <a:extLst>
              <a:ext uri="{FF2B5EF4-FFF2-40B4-BE49-F238E27FC236}">
                <a16:creationId xmlns:a16="http://schemas.microsoft.com/office/drawing/2014/main" id="{7D01EE4A-24F5-09D4-FD0D-1474682C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091" y="3620926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booléens</a:t>
            </a:r>
          </a:p>
        </p:txBody>
      </p:sp>
      <p:sp>
        <p:nvSpPr>
          <p:cNvPr id="10248" name="Rectangle 45">
            <a:extLst>
              <a:ext uri="{FF2B5EF4-FFF2-40B4-BE49-F238E27FC236}">
                <a16:creationId xmlns:a16="http://schemas.microsoft.com/office/drawing/2014/main" id="{92C45E58-CB90-DC14-7BDC-C4E672ED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365104"/>
            <a:ext cx="79200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Le type </a:t>
            </a:r>
            <a:r>
              <a:rPr lang="fr-FR" altLang="fr-FR" sz="1800" dirty="0" err="1">
                <a:solidFill>
                  <a:srgbClr val="FF3399"/>
                </a:solidFill>
              </a:rPr>
              <a:t>boolean</a:t>
            </a:r>
            <a:r>
              <a:rPr lang="fr-FR" altLang="fr-FR" sz="1800" dirty="0"/>
              <a:t> peut avoir deux valeurs 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	false </a:t>
            </a:r>
            <a:r>
              <a:rPr lang="fr-FR" altLang="fr-FR" sz="1800" dirty="0">
                <a:sym typeface="Wingdings" panose="05000000000000000000" pitchFamily="2" charset="2"/>
              </a:rPr>
              <a:t> </a:t>
            </a:r>
            <a:r>
              <a:rPr lang="fr-FR" altLang="fr-FR" sz="1800" dirty="0"/>
              <a:t>faux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	</a:t>
            </a:r>
            <a:r>
              <a:rPr lang="fr-FR" altLang="fr-FR" sz="1800" dirty="0" err="1"/>
              <a:t>true</a:t>
            </a:r>
            <a:r>
              <a:rPr lang="fr-FR" altLang="fr-FR" sz="1800" dirty="0"/>
              <a:t> </a:t>
            </a:r>
            <a:r>
              <a:rPr lang="fr-FR" altLang="fr-FR" sz="1800" dirty="0">
                <a:sym typeface="Wingdings" panose="05000000000000000000" pitchFamily="2" charset="2"/>
              </a:rPr>
              <a:t></a:t>
            </a:r>
            <a:r>
              <a:rPr lang="fr-FR" altLang="fr-FR" sz="1800" dirty="0"/>
              <a:t> vrai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7E2D3E33-EAAF-DBC8-9221-29535F8E7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Variables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F62C98DA-3E44-A6E2-DB11-FE6385786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00213"/>
            <a:ext cx="7920037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8038" indent="-3508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En JAVA, toute variable a un type. Vous déclarez une variable en spécifiant d'abord son type, puis son nom.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Voici quelques exemples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double</a:t>
            </a:r>
            <a:r>
              <a:rPr lang="fr-FR" altLang="fr-FR" sz="1800"/>
              <a:t> salaire;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int</a:t>
            </a:r>
            <a:r>
              <a:rPr lang="fr-FR" altLang="fr-FR" sz="1800"/>
              <a:t> joursVacances;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long</a:t>
            </a:r>
            <a:r>
              <a:rPr lang="fr-FR" altLang="fr-FR" sz="1800"/>
              <a:t> populationMondiale;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char</a:t>
            </a:r>
            <a:r>
              <a:rPr lang="fr-FR" altLang="fr-FR" sz="1800"/>
              <a:t> reponseOui;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boolean</a:t>
            </a:r>
            <a:r>
              <a:rPr lang="fr-FR" altLang="fr-FR" sz="1800"/>
              <a:t> termine;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F51A10D4-D215-04AD-5950-34F77FD28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Affectations et initialisations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ADA683D4-F8CD-45F5-CD25-1000BC072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12875"/>
            <a:ext cx="7920037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8038" indent="-3508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Après avoir déclaré une variable, vous devez explicitement l'initialiser à l'aide d'une instruction d'affectation.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Voici quelques exemples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int</a:t>
            </a:r>
            <a:r>
              <a:rPr lang="fr-FR" altLang="fr-FR" sz="1800"/>
              <a:t> joursVacances;			// ceci est une déclaration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/>
              <a:t>joursVacances = 12;		// ceci est une affectation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int</a:t>
            </a:r>
            <a:r>
              <a:rPr lang="fr-FR" altLang="fr-FR" sz="1800"/>
              <a:t> joursVacances = 12;		// ceci est une initialisation</a:t>
            </a:r>
          </a:p>
        </p:txBody>
      </p:sp>
      <p:sp>
        <p:nvSpPr>
          <p:cNvPr id="12294" name="Text Box 4">
            <a:extLst>
              <a:ext uri="{FF2B5EF4-FFF2-40B4-BE49-F238E27FC236}">
                <a16:creationId xmlns:a16="http://schemas.microsoft.com/office/drawing/2014/main" id="{3C4E87F1-371D-2E33-2A9D-D28DCCF01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860800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Les constantes</a:t>
            </a:r>
          </a:p>
        </p:txBody>
      </p:sp>
      <p:sp>
        <p:nvSpPr>
          <p:cNvPr id="12295" name="Rectangle 5">
            <a:extLst>
              <a:ext uri="{FF2B5EF4-FFF2-40B4-BE49-F238E27FC236}">
                <a16:creationId xmlns:a16="http://schemas.microsoft.com/office/drawing/2014/main" id="{2EE337DA-5D80-A0A8-2EDE-EFAF624D1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365625"/>
            <a:ext cx="79200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3508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En JAVA, le mot clé </a:t>
            </a:r>
            <a:r>
              <a:rPr lang="fr-FR" altLang="fr-FR" sz="1800" i="1">
                <a:solidFill>
                  <a:srgbClr val="FF3399"/>
                </a:solidFill>
              </a:rPr>
              <a:t>final</a:t>
            </a:r>
            <a:r>
              <a:rPr lang="fr-FR" altLang="fr-FR" sz="1800"/>
              <a:t> sert à désigner une constante.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Voici un exemple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r-FR" altLang="fr-FR" sz="1800">
                <a:solidFill>
                  <a:srgbClr val="FF3399"/>
                </a:solidFill>
              </a:rPr>
              <a:t>final</a:t>
            </a:r>
            <a:r>
              <a:rPr lang="fr-FR" altLang="fr-FR" sz="1800"/>
              <a:t> double taux = 20.6;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F9059FEA-C9D0-6D91-4865-411C31F27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Opérateurs</a:t>
            </a:r>
          </a:p>
        </p:txBody>
      </p:sp>
      <p:graphicFrame>
        <p:nvGraphicFramePr>
          <p:cNvPr id="22600" name="Group 72">
            <a:extLst>
              <a:ext uri="{FF2B5EF4-FFF2-40B4-BE49-F238E27FC236}">
                <a16:creationId xmlns:a16="http://schemas.microsoft.com/office/drawing/2014/main" id="{F354C0BC-6949-E3E9-9E34-94A1EEAAB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744162"/>
              </p:ext>
            </p:extLst>
          </p:nvPr>
        </p:nvGraphicFramePr>
        <p:xfrm>
          <a:off x="1042987" y="2420888"/>
          <a:ext cx="7416800" cy="3384553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Opérateurs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Désignation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+ ; - ; * ; /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Addition ; Soustraction ; Multiplication ; Division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%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Modulo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==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 l'égalité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!=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 l'inégalité (différent)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&lt; ; &gt; ; &lt;= ; &gt;=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Inférieur ; supérieur ; inférieur ou égal ; supérieur ou égal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&amp;&amp;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 ET logique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||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 OU logique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!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 NON logique (la négation)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349" name="Text Box 73">
            <a:extLst>
              <a:ext uri="{FF2B5EF4-FFF2-40B4-BE49-F238E27FC236}">
                <a16:creationId xmlns:a16="http://schemas.microsoft.com/office/drawing/2014/main" id="{47C68DEE-D520-E1DE-2892-B5511C48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49" y="1556792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Arithmétiques ; relationnels ; booléens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C43807FE-B56A-C884-ACB0-D7FD070DA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Opérateurs</a:t>
            </a:r>
          </a:p>
        </p:txBody>
      </p:sp>
      <p:sp>
        <p:nvSpPr>
          <p:cNvPr id="14341" name="Text Box 35">
            <a:extLst>
              <a:ext uri="{FF2B5EF4-FFF2-40B4-BE49-F238E27FC236}">
                <a16:creationId xmlns:a16="http://schemas.microsoft.com/office/drawing/2014/main" id="{ECE872F6-7929-2E98-6DBD-A02A5131E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48431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Conversions de types numériques</a:t>
            </a:r>
          </a:p>
        </p:txBody>
      </p:sp>
      <p:sp>
        <p:nvSpPr>
          <p:cNvPr id="14342" name="Rectangle 37">
            <a:extLst>
              <a:ext uri="{FF2B5EF4-FFF2-40B4-BE49-F238E27FC236}">
                <a16:creationId xmlns:a16="http://schemas.microsoft.com/office/drawing/2014/main" id="{641943BF-F278-46C6-E2DC-A73BDAB50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33600"/>
            <a:ext cx="79200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Il est souvent nécessaire de convertir un type en un autre.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Les six flèches rouges indiquent les conversions sans perte d'informations.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Les trois flèches vertes indiquent celles pouvant  souffrir d'une perte de précision.</a:t>
            </a:r>
          </a:p>
        </p:txBody>
      </p:sp>
      <p:grpSp>
        <p:nvGrpSpPr>
          <p:cNvPr id="14343" name="Group 57">
            <a:extLst>
              <a:ext uri="{FF2B5EF4-FFF2-40B4-BE49-F238E27FC236}">
                <a16:creationId xmlns:a16="http://schemas.microsoft.com/office/drawing/2014/main" id="{057AE03C-79E2-4FF8-FB9E-8FD1E7B5B0AF}"/>
              </a:ext>
            </a:extLst>
          </p:cNvPr>
          <p:cNvGrpSpPr>
            <a:grpSpLocks/>
          </p:cNvGrpSpPr>
          <p:nvPr/>
        </p:nvGrpSpPr>
        <p:grpSpPr bwMode="auto">
          <a:xfrm>
            <a:off x="3743325" y="3213100"/>
            <a:ext cx="5400675" cy="2166938"/>
            <a:chOff x="703" y="2251"/>
            <a:chExt cx="3402" cy="1365"/>
          </a:xfrm>
        </p:grpSpPr>
        <p:sp>
          <p:nvSpPr>
            <p:cNvPr id="14345" name="Text Box 38">
              <a:extLst>
                <a:ext uri="{FF2B5EF4-FFF2-40B4-BE49-F238E27FC236}">
                  <a16:creationId xmlns:a16="http://schemas.microsoft.com/office/drawing/2014/main" id="{61E8065C-19F9-AA09-A28E-171131834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251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char</a:t>
              </a:r>
            </a:p>
          </p:txBody>
        </p:sp>
        <p:sp>
          <p:nvSpPr>
            <p:cNvPr id="14346" name="Text Box 39">
              <a:extLst>
                <a:ext uri="{FF2B5EF4-FFF2-40B4-BE49-F238E27FC236}">
                  <a16:creationId xmlns:a16="http://schemas.microsoft.com/office/drawing/2014/main" id="{F8BEFBB7-5CEB-9147-3B08-F72E7ECB7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79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byte</a:t>
              </a:r>
            </a:p>
          </p:txBody>
        </p:sp>
        <p:sp>
          <p:nvSpPr>
            <p:cNvPr id="14347" name="Text Box 40">
              <a:extLst>
                <a:ext uri="{FF2B5EF4-FFF2-40B4-BE49-F238E27FC236}">
                  <a16:creationId xmlns:a16="http://schemas.microsoft.com/office/drawing/2014/main" id="{7F35C2AE-2217-A481-6D6C-29BD89B1B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2795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short</a:t>
              </a:r>
            </a:p>
          </p:txBody>
        </p:sp>
        <p:sp>
          <p:nvSpPr>
            <p:cNvPr id="14348" name="Text Box 41">
              <a:extLst>
                <a:ext uri="{FF2B5EF4-FFF2-40B4-BE49-F238E27FC236}">
                  <a16:creationId xmlns:a16="http://schemas.microsoft.com/office/drawing/2014/main" id="{9280370D-C4A0-670D-061B-8AB4D425F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79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int</a:t>
              </a:r>
            </a:p>
          </p:txBody>
        </p:sp>
        <p:sp>
          <p:nvSpPr>
            <p:cNvPr id="14349" name="Text Box 42">
              <a:extLst>
                <a:ext uri="{FF2B5EF4-FFF2-40B4-BE49-F238E27FC236}">
                  <a16:creationId xmlns:a16="http://schemas.microsoft.com/office/drawing/2014/main" id="{66235751-B575-9C40-9713-21C58EBCA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79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long</a:t>
              </a:r>
            </a:p>
          </p:txBody>
        </p:sp>
        <p:sp>
          <p:nvSpPr>
            <p:cNvPr id="14350" name="Text Box 43">
              <a:extLst>
                <a:ext uri="{FF2B5EF4-FFF2-40B4-BE49-F238E27FC236}">
                  <a16:creationId xmlns:a16="http://schemas.microsoft.com/office/drawing/2014/main" id="{6A1C5494-2A38-0C16-0990-921D4C20F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338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float</a:t>
              </a:r>
            </a:p>
          </p:txBody>
        </p:sp>
        <p:sp>
          <p:nvSpPr>
            <p:cNvPr id="14351" name="Text Box 44">
              <a:extLst>
                <a:ext uri="{FF2B5EF4-FFF2-40B4-BE49-F238E27FC236}">
                  <a16:creationId xmlns:a16="http://schemas.microsoft.com/office/drawing/2014/main" id="{29EDCF63-4C11-DE85-C4B0-CC25CBB8B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3385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/>
                <a:t>double</a:t>
              </a:r>
            </a:p>
          </p:txBody>
        </p:sp>
        <p:sp>
          <p:nvSpPr>
            <p:cNvPr id="14352" name="Line 45">
              <a:extLst>
                <a:ext uri="{FF2B5EF4-FFF2-40B4-BE49-F238E27FC236}">
                  <a16:creationId xmlns:a16="http://schemas.microsoft.com/office/drawing/2014/main" id="{70C717FD-FEC6-F09D-E55C-ABB4C3551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478"/>
              <a:ext cx="0" cy="31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3" name="Line 46">
              <a:extLst>
                <a:ext uri="{FF2B5EF4-FFF2-40B4-BE49-F238E27FC236}">
                  <a16:creationId xmlns:a16="http://schemas.microsoft.com/office/drawing/2014/main" id="{7C11A7FC-B056-66E0-D440-ECCB1225D7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315" y="2772"/>
              <a:ext cx="0" cy="31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4" name="Line 47">
              <a:extLst>
                <a:ext uri="{FF2B5EF4-FFF2-40B4-BE49-F238E27FC236}">
                  <a16:creationId xmlns:a16="http://schemas.microsoft.com/office/drawing/2014/main" id="{965A6184-E3A8-0E3E-A4C6-1368C535A6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313" y="2772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5" name="Line 49">
              <a:extLst>
                <a:ext uri="{FF2B5EF4-FFF2-40B4-BE49-F238E27FC236}">
                  <a16:creationId xmlns:a16="http://schemas.microsoft.com/office/drawing/2014/main" id="{9FB5EE4F-AC61-0CD8-6BD7-1A2EACAD07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313" y="2772"/>
              <a:ext cx="0" cy="31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6" name="Line 50">
              <a:extLst>
                <a:ext uri="{FF2B5EF4-FFF2-40B4-BE49-F238E27FC236}">
                  <a16:creationId xmlns:a16="http://schemas.microsoft.com/office/drawing/2014/main" id="{E24EC509-F811-310E-67DC-33250659E8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20" y="2682"/>
              <a:ext cx="0" cy="49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7" name="Line 52">
              <a:extLst>
                <a:ext uri="{FF2B5EF4-FFF2-40B4-BE49-F238E27FC236}">
                  <a16:creationId xmlns:a16="http://schemas.microsoft.com/office/drawing/2014/main" id="{4839B6C5-9DD8-A728-83FE-40897F1992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994" y="2908"/>
              <a:ext cx="408" cy="63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8" name="Line 53">
              <a:extLst>
                <a:ext uri="{FF2B5EF4-FFF2-40B4-BE49-F238E27FC236}">
                  <a16:creationId xmlns:a16="http://schemas.microsoft.com/office/drawing/2014/main" id="{987B24C1-78EC-CB56-11B2-5C2B2AF153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265" y="3272"/>
              <a:ext cx="0" cy="49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59" name="Line 54">
              <a:extLst>
                <a:ext uri="{FF2B5EF4-FFF2-40B4-BE49-F238E27FC236}">
                  <a16:creationId xmlns:a16="http://schemas.microsoft.com/office/drawing/2014/main" id="{916D9BEA-1417-34DC-E44B-04F21993B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3067"/>
              <a:ext cx="0" cy="317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60" name="Line 55">
              <a:extLst>
                <a:ext uri="{FF2B5EF4-FFF2-40B4-BE49-F238E27FC236}">
                  <a16:creationId xmlns:a16="http://schemas.microsoft.com/office/drawing/2014/main" id="{FD921C8B-2E0A-0BA3-0051-9ECECFC99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3067"/>
              <a:ext cx="0" cy="317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61" name="Line 56">
              <a:extLst>
                <a:ext uri="{FF2B5EF4-FFF2-40B4-BE49-F238E27FC236}">
                  <a16:creationId xmlns:a16="http://schemas.microsoft.com/office/drawing/2014/main" id="{9238F4D9-5AB2-8315-A397-B02F43B2BC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925" y="3022"/>
              <a:ext cx="590" cy="40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344" name="Text Box 58">
            <a:extLst>
              <a:ext uri="{FF2B5EF4-FFF2-40B4-BE49-F238E27FC236}">
                <a16:creationId xmlns:a16="http://schemas.microsoft.com/office/drawing/2014/main" id="{2B5F4256-D1D8-4879-7C47-6A9E1C94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986" y="4710906"/>
            <a:ext cx="4176712" cy="103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400" dirty="0"/>
              <a:t>Exemple 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400" dirty="0" err="1"/>
              <a:t>int</a:t>
            </a:r>
            <a:r>
              <a:rPr lang="fr-FR" altLang="fr-FR" sz="1400" dirty="0"/>
              <a:t> n = 123456789;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400" dirty="0" err="1"/>
              <a:t>float</a:t>
            </a:r>
            <a:r>
              <a:rPr lang="fr-FR" altLang="fr-FR" sz="1400" dirty="0"/>
              <a:t> f = n; 		// f vaut </a:t>
            </a:r>
            <a:r>
              <a:rPr lang="fr-FR" altLang="fr-FR" sz="1400" dirty="0" err="1"/>
              <a:t>1.2345679E8</a:t>
            </a:r>
            <a:r>
              <a:rPr lang="fr-FR" altLang="fr-FR" sz="1800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>
            <a:extLst>
              <a:ext uri="{FF2B5EF4-FFF2-40B4-BE49-F238E27FC236}">
                <a16:creationId xmlns:a16="http://schemas.microsoft.com/office/drawing/2014/main" id="{78BC6D7A-6C52-61C8-BC8F-18386A313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Opérateurs</a:t>
            </a:r>
          </a:p>
        </p:txBody>
      </p:sp>
      <p:sp>
        <p:nvSpPr>
          <p:cNvPr id="15365" name="Text Box 3">
            <a:extLst>
              <a:ext uri="{FF2B5EF4-FFF2-40B4-BE49-F238E27FC236}">
                <a16:creationId xmlns:a16="http://schemas.microsoft.com/office/drawing/2014/main" id="{651EA215-8DA4-4FE6-12B2-4701A9F4B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48431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Transtypages</a:t>
            </a:r>
          </a:p>
        </p:txBody>
      </p:sp>
      <p:sp>
        <p:nvSpPr>
          <p:cNvPr id="15366" name="Rectangle 4">
            <a:extLst>
              <a:ext uri="{FF2B5EF4-FFF2-40B4-BE49-F238E27FC236}">
                <a16:creationId xmlns:a16="http://schemas.microsoft.com/office/drawing/2014/main" id="{6BA1072E-4DEE-19DC-3131-A9BA694E5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33600"/>
            <a:ext cx="7920037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Dans la diapositive précédente, vous avez vu que les valeurs </a:t>
            </a:r>
            <a:r>
              <a:rPr lang="fr-FR" altLang="fr-FR" sz="1800" i="1">
                <a:solidFill>
                  <a:srgbClr val="FF3399"/>
                </a:solidFill>
              </a:rPr>
              <a:t>int</a:t>
            </a:r>
            <a:r>
              <a:rPr lang="fr-FR" altLang="fr-FR" sz="1800"/>
              <a:t> étaient automatiquement converties en valeurs </a:t>
            </a:r>
            <a:r>
              <a:rPr lang="fr-FR" altLang="fr-FR" sz="1800" i="1">
                <a:solidFill>
                  <a:srgbClr val="FF3399"/>
                </a:solidFill>
              </a:rPr>
              <a:t>double</a:t>
            </a:r>
            <a:r>
              <a:rPr lang="fr-FR" altLang="fr-FR" sz="1800"/>
              <a:t> en cas de besoin.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D'autre part, il existe évidemment des cas où vous voudrez considérer un double comme un entier.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La syntaxe du transtypage fournit le type cible entre parenthèses, suivi du nom de la variable.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Exemple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double x = 9.997;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int nx = (int) x;		// nx vaut 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>
            <a:extLst>
              <a:ext uri="{FF2B5EF4-FFF2-40B4-BE49-F238E27FC236}">
                <a16:creationId xmlns:a16="http://schemas.microsoft.com/office/drawing/2014/main" id="{C026A774-16BE-F9B0-D0B8-F1EF327EC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Chaînes</a:t>
            </a:r>
          </a:p>
        </p:txBody>
      </p:sp>
      <p:sp>
        <p:nvSpPr>
          <p:cNvPr id="16389" name="Text Box 3">
            <a:extLst>
              <a:ext uri="{FF2B5EF4-FFF2-40B4-BE49-F238E27FC236}">
                <a16:creationId xmlns:a16="http://schemas.microsoft.com/office/drawing/2014/main" id="{D218DD0B-9742-6A1D-BA05-3BC92C508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26841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Concaténation</a:t>
            </a:r>
          </a:p>
        </p:txBody>
      </p:sp>
      <p:sp>
        <p:nvSpPr>
          <p:cNvPr id="16390" name="Rectangle 4">
            <a:extLst>
              <a:ext uri="{FF2B5EF4-FFF2-40B4-BE49-F238E27FC236}">
                <a16:creationId xmlns:a16="http://schemas.microsoft.com/office/drawing/2014/main" id="{B0EB488E-D70A-CB59-027D-562B333FB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73238"/>
            <a:ext cx="7920037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JAVA autorise l'emploi du signe + pour joindre (concaténer) deux chaînes.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Exemple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String </a:t>
            </a:r>
            <a:r>
              <a:rPr lang="fr-FR" altLang="fr-FR" sz="1600" dirty="0" err="1"/>
              <a:t>debutPhrase</a:t>
            </a:r>
            <a:r>
              <a:rPr lang="fr-FR" altLang="fr-FR" sz="1600" dirty="0"/>
              <a:t> = "bonjour 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String </a:t>
            </a:r>
            <a:r>
              <a:rPr lang="fr-FR" altLang="fr-FR" sz="1600" dirty="0" err="1"/>
              <a:t>finPhrase</a:t>
            </a:r>
            <a:r>
              <a:rPr lang="fr-FR" altLang="fr-FR" sz="1600" dirty="0"/>
              <a:t> = "tout le monde";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String phrase = </a:t>
            </a:r>
            <a:r>
              <a:rPr lang="fr-FR" altLang="fr-FR" sz="1600" dirty="0" err="1"/>
              <a:t>debutPhrase</a:t>
            </a:r>
            <a:r>
              <a:rPr lang="fr-FR" altLang="fr-FR" sz="1600" dirty="0"/>
              <a:t> + </a:t>
            </a:r>
            <a:r>
              <a:rPr lang="fr-FR" altLang="fr-FR" sz="1600" dirty="0" err="1"/>
              <a:t>finPhrase</a:t>
            </a:r>
            <a:r>
              <a:rPr lang="fr-FR" altLang="fr-FR" sz="1600" dirty="0"/>
              <a:t>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6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// phrase vaut bonjour tout le monde</a:t>
            </a:r>
          </a:p>
        </p:txBody>
      </p:sp>
      <p:sp>
        <p:nvSpPr>
          <p:cNvPr id="16391" name="Text Box 5">
            <a:extLst>
              <a:ext uri="{FF2B5EF4-FFF2-40B4-BE49-F238E27FC236}">
                <a16:creationId xmlns:a16="http://schemas.microsoft.com/office/drawing/2014/main" id="{F4B645E1-EE4B-BA65-4099-9B7B170B4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00526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Manipulation</a:t>
            </a:r>
          </a:p>
        </p:txBody>
      </p:sp>
      <p:sp>
        <p:nvSpPr>
          <p:cNvPr id="16392" name="Rectangle 6">
            <a:extLst>
              <a:ext uri="{FF2B5EF4-FFF2-40B4-BE49-F238E27FC236}">
                <a16:creationId xmlns:a16="http://schemas.microsoft.com/office/drawing/2014/main" id="{A3BE698F-14F3-C7DA-C7B0-C3811B921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08500"/>
            <a:ext cx="7920038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Lire la documentation  API en ligne </a:t>
            </a:r>
            <a:r>
              <a:rPr lang="fr-FR" altLang="fr-FR" sz="1600">
                <a:sym typeface="Wingdings" panose="05000000000000000000" pitchFamily="2" charset="2"/>
              </a:rPr>
              <a:t> </a:t>
            </a:r>
            <a:r>
              <a:rPr lang="fr-FR" altLang="fr-FR" sz="1600">
                <a:solidFill>
                  <a:srgbClr val="FF3399"/>
                </a:solidFill>
                <a:sym typeface="Wingdings" panose="05000000000000000000" pitchFamily="2" charset="2"/>
              </a:rPr>
              <a:t>java.lang.String</a:t>
            </a:r>
            <a:r>
              <a:rPr lang="fr-FR" altLang="fr-FR" sz="1600">
                <a:sym typeface="Wingdings" panose="05000000000000000000" pitchFamily="2" charset="2"/>
              </a:rPr>
              <a:t> pour connaître toutes les méthodes sur la manipulation de chaînes de caractères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ym typeface="Wingdings" panose="05000000000000000000" pitchFamily="2" charset="2"/>
              </a:rPr>
              <a:t>Exemples 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ym typeface="Wingdings" panose="05000000000000000000" pitchFamily="2" charset="2"/>
              </a:rPr>
              <a:t>	int compareTo (String autre)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ym typeface="Wingdings" panose="05000000000000000000" pitchFamily="2" charset="2"/>
              </a:rPr>
              <a:t>	boolean equals (object autre)</a:t>
            </a:r>
            <a:endParaRPr lang="fr-FR" altLang="fr-FR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E649A147-7E0C-4AF2-EF0F-926E3E5EC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pic>
        <p:nvPicPr>
          <p:cNvPr id="17417" name="Picture 13" descr="j0293236">
            <a:extLst>
              <a:ext uri="{FF2B5EF4-FFF2-40B4-BE49-F238E27FC236}">
                <a16:creationId xmlns:a16="http://schemas.microsoft.com/office/drawing/2014/main" id="{0A76C5B2-50EF-A35B-44AF-966393EB1E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3213" y="5084763"/>
            <a:ext cx="566737" cy="417512"/>
          </a:xfrm>
          <a:noFill/>
        </p:spPr>
      </p:pic>
      <p:sp>
        <p:nvSpPr>
          <p:cNvPr id="17413" name="Text Box 3">
            <a:extLst>
              <a:ext uri="{FF2B5EF4-FFF2-40B4-BE49-F238E27FC236}">
                <a16:creationId xmlns:a16="http://schemas.microsoft.com/office/drawing/2014/main" id="{98AC8279-32F8-5A6A-C655-A8899975F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12875"/>
            <a:ext cx="766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Instruction conditionnelle </a:t>
            </a:r>
            <a:r>
              <a:rPr lang="fr-FR" altLang="fr-FR" sz="240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fr-FR" altLang="fr-FR" sz="2400">
                <a:solidFill>
                  <a:srgbClr val="0000FF"/>
                </a:solidFill>
              </a:rPr>
              <a:t>Si…Alors…Sinon…Fsi</a:t>
            </a:r>
          </a:p>
        </p:txBody>
      </p:sp>
      <p:sp>
        <p:nvSpPr>
          <p:cNvPr id="17414" name="Rectangle 4">
            <a:extLst>
              <a:ext uri="{FF2B5EF4-FFF2-40B4-BE49-F238E27FC236}">
                <a16:creationId xmlns:a16="http://schemas.microsoft.com/office/drawing/2014/main" id="{15374FFE-1096-BE8A-FEB2-6686AF817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205038"/>
            <a:ext cx="2735263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FF3399"/>
                </a:solidFill>
              </a:rPr>
              <a:t>if</a:t>
            </a:r>
            <a:r>
              <a:rPr lang="fr-FR" altLang="fr-FR" sz="1600"/>
              <a:t> (condition)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{ // début du bloc SI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instructions;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} // fin du bloc SI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FF3399"/>
                </a:solidFill>
              </a:rPr>
              <a:t>else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{ // début du bloc Sinon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instructions;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} // fin du bloc Sinon</a:t>
            </a: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30B8A4D3-878A-8B8E-A4CB-E9B89E720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084763"/>
            <a:ext cx="4176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La condition est toujours entre parenthèses.</a:t>
            </a:r>
          </a:p>
        </p:txBody>
      </p:sp>
      <p:sp>
        <p:nvSpPr>
          <p:cNvPr id="17416" name="Rectangle 12">
            <a:extLst>
              <a:ext uri="{FF2B5EF4-FFF2-40B4-BE49-F238E27FC236}">
                <a16:creationId xmlns:a16="http://schemas.microsoft.com/office/drawing/2014/main" id="{7A52FDD9-7E5C-49E4-8CF8-CF93D519C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276475"/>
            <a:ext cx="410527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FF3399"/>
                </a:solidFill>
              </a:rPr>
              <a:t>if</a:t>
            </a:r>
            <a:r>
              <a:rPr lang="fr-FR" altLang="fr-FR" sz="1600"/>
              <a:t> (vosVentes &gt;= cible)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performance = "OK";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FF3399"/>
                </a:solidFill>
              </a:rPr>
              <a:t>else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performance = "Pas OK";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007E8BF0-125E-95F7-C15C-4182F358A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sp>
        <p:nvSpPr>
          <p:cNvPr id="18437" name="Text Box 3">
            <a:extLst>
              <a:ext uri="{FF2B5EF4-FFF2-40B4-BE49-F238E27FC236}">
                <a16:creationId xmlns:a16="http://schemas.microsoft.com/office/drawing/2014/main" id="{BC1CB6D5-0819-F337-10FB-12823BDCA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26841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Instruction conditionnelle </a:t>
            </a:r>
            <a:r>
              <a:rPr lang="fr-FR" altLang="fr-FR" sz="2400">
                <a:solidFill>
                  <a:srgbClr val="0000FF"/>
                </a:solidFill>
                <a:sym typeface="Wingdings" panose="05000000000000000000" pitchFamily="2" charset="2"/>
              </a:rPr>
              <a:t> branchement multiple</a:t>
            </a:r>
            <a:endParaRPr lang="fr-FR" altLang="fr-FR" sz="2400">
              <a:solidFill>
                <a:srgbClr val="0000FF"/>
              </a:solidFill>
            </a:endParaRP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795021E6-E718-8872-2336-8E84FE7A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773238"/>
            <a:ext cx="6911975" cy="465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>
                <a:solidFill>
                  <a:srgbClr val="FF3399"/>
                </a:solidFill>
              </a:rPr>
              <a:t>if</a:t>
            </a:r>
            <a:r>
              <a:rPr lang="fr-FR" altLang="fr-FR" sz="1300"/>
              <a:t> (vosVentes &gt;= 2 * cible)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performance = "Excellent";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>
                <a:solidFill>
                  <a:srgbClr val="FF3399"/>
                </a:solidFill>
              </a:rPr>
              <a:t>else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>
                <a:solidFill>
                  <a:srgbClr val="FF3399"/>
                </a:solidFill>
              </a:rPr>
              <a:t>	if </a:t>
            </a:r>
            <a:r>
              <a:rPr lang="fr-FR" altLang="fr-FR" sz="1300"/>
              <a:t>(vosVentes &gt;= 1.5 * cible)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 	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	performance = "Bon";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        	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</a:t>
            </a:r>
            <a:r>
              <a:rPr lang="fr-FR" altLang="fr-FR" sz="1300">
                <a:solidFill>
                  <a:srgbClr val="FF3399"/>
                </a:solidFill>
              </a:rPr>
              <a:t>else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{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	</a:t>
            </a:r>
            <a:r>
              <a:rPr lang="fr-FR" altLang="fr-FR" sz="1300">
                <a:solidFill>
                  <a:srgbClr val="FF3399"/>
                </a:solidFill>
              </a:rPr>
              <a:t>if</a:t>
            </a:r>
            <a:r>
              <a:rPr lang="fr-FR" altLang="fr-FR" sz="1300"/>
              <a:t> (vosVentes &gt;= cible)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        	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		performance = "moyen";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        	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       	</a:t>
            </a:r>
            <a:r>
              <a:rPr lang="fr-FR" altLang="fr-FR" sz="1300">
                <a:solidFill>
                  <a:srgbClr val="FF3399"/>
                </a:solidFill>
              </a:rPr>
              <a:t>else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        	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		performance = "mauvais";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        	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	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3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>
            <a:extLst>
              <a:ext uri="{FF2B5EF4-FFF2-40B4-BE49-F238E27FC236}">
                <a16:creationId xmlns:a16="http://schemas.microsoft.com/office/drawing/2014/main" id="{93E9D8DD-5B8B-27A3-DA41-0D56B172D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pic>
        <p:nvPicPr>
          <p:cNvPr id="19465" name="Picture 7" descr="j0293236">
            <a:extLst>
              <a:ext uri="{FF2B5EF4-FFF2-40B4-BE49-F238E27FC236}">
                <a16:creationId xmlns:a16="http://schemas.microsoft.com/office/drawing/2014/main" id="{CAC4C065-1357-A4B0-F262-E65DAB6B5A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3200" y="2819400"/>
            <a:ext cx="566738" cy="417513"/>
          </a:xfrm>
          <a:noFill/>
        </p:spPr>
      </p:pic>
      <p:sp>
        <p:nvSpPr>
          <p:cNvPr id="19461" name="Text Box 3">
            <a:extLst>
              <a:ext uri="{FF2B5EF4-FFF2-40B4-BE49-F238E27FC236}">
                <a16:creationId xmlns:a16="http://schemas.microsoft.com/office/drawing/2014/main" id="{09B8ADEE-3FA0-AAB6-0175-58130A34F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26841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Instruction conditionnelle </a:t>
            </a:r>
            <a:r>
              <a:rPr lang="fr-FR" altLang="fr-FR" sz="2400">
                <a:solidFill>
                  <a:srgbClr val="0000FF"/>
                </a:solidFill>
                <a:sym typeface="Wingdings" panose="05000000000000000000" pitchFamily="2" charset="2"/>
              </a:rPr>
              <a:t> Selon…Faire…Sinon</a:t>
            </a:r>
            <a:endParaRPr lang="fr-FR" altLang="fr-FR" sz="2400">
              <a:solidFill>
                <a:srgbClr val="0000FF"/>
              </a:solidFill>
            </a:endParaRP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445ECAFA-79F9-1094-8E6D-8FC6B775E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636838"/>
            <a:ext cx="3311525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FF3399"/>
                </a:solidFill>
              </a:rPr>
              <a:t>switch</a:t>
            </a:r>
            <a:r>
              <a:rPr lang="fr-FR" altLang="fr-FR" sz="1400"/>
              <a:t> (choix)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</a:t>
            </a:r>
            <a:r>
              <a:rPr lang="fr-FR" altLang="fr-FR" sz="1400">
                <a:solidFill>
                  <a:srgbClr val="FF3399"/>
                </a:solidFill>
              </a:rPr>
              <a:t>case</a:t>
            </a:r>
            <a:r>
              <a:rPr lang="fr-FR" altLang="fr-FR" sz="1400"/>
              <a:t> 1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instruction 1;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instruction 2;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break;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</a:t>
            </a:r>
            <a:r>
              <a:rPr lang="fr-FR" altLang="fr-FR" sz="1400">
                <a:solidFill>
                  <a:srgbClr val="FF3399"/>
                </a:solidFill>
              </a:rPr>
              <a:t>case</a:t>
            </a:r>
            <a:r>
              <a:rPr lang="fr-FR" altLang="fr-FR" sz="1400"/>
              <a:t> 2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instruction 3;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instruction 4;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break;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</a:t>
            </a:r>
            <a:r>
              <a:rPr lang="fr-FR" altLang="fr-FR" sz="1400">
                <a:solidFill>
                  <a:srgbClr val="FF3399"/>
                </a:solidFill>
              </a:rPr>
              <a:t>default</a:t>
            </a:r>
            <a:r>
              <a:rPr lang="fr-FR" altLang="fr-FR" sz="1400"/>
              <a:t>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		// erreur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400"/>
          </a:p>
        </p:txBody>
      </p:sp>
      <p:sp>
        <p:nvSpPr>
          <p:cNvPr id="19463" name="Text Box 5">
            <a:extLst>
              <a:ext uri="{FF2B5EF4-FFF2-40B4-BE49-F238E27FC236}">
                <a16:creationId xmlns:a16="http://schemas.microsoft.com/office/drawing/2014/main" id="{9DD72718-F25C-2B45-6AF3-0E65B6A9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844675"/>
            <a:ext cx="73453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/>
              <a:t>L'instruction IF / ELSE peut se révéler assez lourde quand vous devez traiter plusieurs alternatives. Java possède l'instruction SWITCH.</a:t>
            </a:r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EE228D33-7268-4690-6251-B05CC4231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429000"/>
            <a:ext cx="3744913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 dirty="0"/>
              <a:t>L'instruction </a:t>
            </a:r>
            <a:r>
              <a:rPr lang="fr-FR" altLang="fr-FR" sz="1400" dirty="0">
                <a:solidFill>
                  <a:srgbClr val="FF3399"/>
                </a:solidFill>
              </a:rPr>
              <a:t>break</a:t>
            </a:r>
            <a:r>
              <a:rPr lang="fr-FR" altLang="fr-FR" sz="1400" dirty="0"/>
              <a:t> permet de sortir du bloc switch.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4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400" dirty="0"/>
              <a:t>Si aucune correspondance n'est trouvée, la clause </a:t>
            </a:r>
            <a:r>
              <a:rPr lang="fr-FR" altLang="fr-FR" sz="1400" dirty="0">
                <a:solidFill>
                  <a:srgbClr val="FF3399"/>
                </a:solidFill>
              </a:rPr>
              <a:t>default</a:t>
            </a:r>
            <a:r>
              <a:rPr lang="fr-FR" altLang="fr-FR" sz="1400" dirty="0"/>
              <a:t> est exécutée, si elle existe.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EF0DAD68-088C-8655-60D9-A05DC0BD4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pic>
        <p:nvPicPr>
          <p:cNvPr id="20488" name="Picture 7" descr="j0293236">
            <a:extLst>
              <a:ext uri="{FF2B5EF4-FFF2-40B4-BE49-F238E27FC236}">
                <a16:creationId xmlns:a16="http://schemas.microsoft.com/office/drawing/2014/main" id="{97516404-7C7C-E39E-B08A-AC7CB3752C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4724400"/>
            <a:ext cx="566738" cy="417513"/>
          </a:xfrm>
          <a:noFill/>
        </p:spPr>
      </p:pic>
      <p:sp>
        <p:nvSpPr>
          <p:cNvPr id="20485" name="Text Box 3">
            <a:extLst>
              <a:ext uri="{FF2B5EF4-FFF2-40B4-BE49-F238E27FC236}">
                <a16:creationId xmlns:a16="http://schemas.microsoft.com/office/drawing/2014/main" id="{14B58C67-0753-7870-0C72-EBF25C26C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1593057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boucles </a:t>
            </a:r>
            <a:r>
              <a:rPr lang="fr-FR" altLang="fr-FR" sz="2400" dirty="0">
                <a:solidFill>
                  <a:srgbClr val="0000FF"/>
                </a:solidFill>
                <a:sym typeface="Wingdings" panose="05000000000000000000" pitchFamily="2" charset="2"/>
              </a:rPr>
              <a:t> Tant Que…Faire…</a:t>
            </a:r>
            <a:r>
              <a:rPr lang="fr-FR" altLang="fr-FR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FTQ</a:t>
            </a:r>
            <a:endParaRPr lang="fr-FR" altLang="fr-FR" sz="2400" dirty="0">
              <a:solidFill>
                <a:srgbClr val="0000FF"/>
              </a:solidFill>
            </a:endParaRPr>
          </a:p>
        </p:txBody>
      </p:sp>
      <p:sp>
        <p:nvSpPr>
          <p:cNvPr id="20486" name="Rectangle 4">
            <a:extLst>
              <a:ext uri="{FF2B5EF4-FFF2-40B4-BE49-F238E27FC236}">
                <a16:creationId xmlns:a16="http://schemas.microsoft.com/office/drawing/2014/main" id="{9761DA5D-3D6D-76B4-67BF-1396E8911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349500"/>
            <a:ext cx="331152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while</a:t>
            </a:r>
            <a:r>
              <a:rPr lang="fr-FR" altLang="fr-FR" sz="1800"/>
              <a:t> (condition)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instructions;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DDDEB3C1-BC51-A844-299A-EDE1D07BB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81525"/>
            <a:ext cx="71294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Le test d'une boucle </a:t>
            </a:r>
            <a:r>
              <a:rPr lang="fr-FR" altLang="fr-FR" sz="1600">
                <a:solidFill>
                  <a:srgbClr val="FF3399"/>
                </a:solidFill>
              </a:rPr>
              <a:t>while</a:t>
            </a:r>
            <a:r>
              <a:rPr lang="fr-FR" altLang="fr-FR" sz="1600"/>
              <a:t> est effectué avant l'exécution du corps de la boucle. Par conséquent, ce bloc peut ne jamais être exécuté.</a:t>
            </a: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56C8EE93-7A69-2354-806E-E0723996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276475"/>
            <a:ext cx="331152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while</a:t>
            </a:r>
            <a:r>
              <a:rPr lang="fr-FR" altLang="fr-FR" sz="1800"/>
              <a:t> (i &lt; 5)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 = i + 1;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B22A38A7-3395-00B0-BBA4-1ABAEAC01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pic>
        <p:nvPicPr>
          <p:cNvPr id="21512" name="Picture 6" descr="j0293236">
            <a:extLst>
              <a:ext uri="{FF2B5EF4-FFF2-40B4-BE49-F238E27FC236}">
                <a16:creationId xmlns:a16="http://schemas.microsoft.com/office/drawing/2014/main" id="{33203728-F6E9-CC22-0FF0-249C0C5251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4724400"/>
            <a:ext cx="566738" cy="417513"/>
          </a:xfrm>
          <a:noFill/>
        </p:spPr>
      </p:pic>
      <p:sp>
        <p:nvSpPr>
          <p:cNvPr id="21509" name="Text Box 3">
            <a:extLst>
              <a:ext uri="{FF2B5EF4-FFF2-40B4-BE49-F238E27FC236}">
                <a16:creationId xmlns:a16="http://schemas.microsoft.com/office/drawing/2014/main" id="{2B205B73-1E34-B23E-5B69-9239DDDAC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" y="157321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boucles </a:t>
            </a:r>
            <a:r>
              <a:rPr lang="fr-FR" altLang="fr-FR" sz="2400" dirty="0">
                <a:solidFill>
                  <a:srgbClr val="0000FF"/>
                </a:solidFill>
                <a:sym typeface="Wingdings" panose="05000000000000000000" pitchFamily="2" charset="2"/>
              </a:rPr>
              <a:t> Répéter…Jusqu'à</a:t>
            </a:r>
            <a:endParaRPr lang="fr-FR" altLang="fr-FR" sz="2400" dirty="0">
              <a:solidFill>
                <a:srgbClr val="0000FF"/>
              </a:solidFill>
            </a:endParaRPr>
          </a:p>
        </p:txBody>
      </p:sp>
      <p:sp>
        <p:nvSpPr>
          <p:cNvPr id="21510" name="Rectangle 4">
            <a:extLst>
              <a:ext uri="{FF2B5EF4-FFF2-40B4-BE49-F238E27FC236}">
                <a16:creationId xmlns:a16="http://schemas.microsoft.com/office/drawing/2014/main" id="{8A984237-BAEA-1239-F931-6255CED26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349500"/>
            <a:ext cx="33115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do</a:t>
            </a:r>
            <a:endParaRPr lang="fr-FR" altLang="fr-F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instructions;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 </a:t>
            </a:r>
            <a:r>
              <a:rPr lang="fr-FR" altLang="fr-FR" sz="1800">
                <a:solidFill>
                  <a:srgbClr val="FF3399"/>
                </a:solidFill>
              </a:rPr>
              <a:t>while</a:t>
            </a:r>
            <a:r>
              <a:rPr lang="fr-FR" altLang="fr-FR" sz="1800"/>
              <a:t> (condition);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1511" name="Rectangle 5">
            <a:extLst>
              <a:ext uri="{FF2B5EF4-FFF2-40B4-BE49-F238E27FC236}">
                <a16:creationId xmlns:a16="http://schemas.microsoft.com/office/drawing/2014/main" id="{637C8026-5691-7F05-805D-7F0D2B7A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81525"/>
            <a:ext cx="71294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Le test d'une boucle </a:t>
            </a:r>
            <a:r>
              <a:rPr lang="fr-FR" altLang="fr-FR" sz="1600">
                <a:solidFill>
                  <a:srgbClr val="FF3399"/>
                </a:solidFill>
              </a:rPr>
              <a:t>Do</a:t>
            </a:r>
            <a:r>
              <a:rPr lang="fr-FR" altLang="fr-FR" sz="1600"/>
              <a:t> est effectué après l'exécution du corps de la boucle. Par conséquent, ce bloc est toujours au moins exécuté une fois.</a:t>
            </a:r>
          </a:p>
        </p:txBody>
      </p:sp>
      <p:sp>
        <p:nvSpPr>
          <p:cNvPr id="21513" name="Rectangle 7">
            <a:extLst>
              <a:ext uri="{FF2B5EF4-FFF2-40B4-BE49-F238E27FC236}">
                <a16:creationId xmlns:a16="http://schemas.microsoft.com/office/drawing/2014/main" id="{EAABE1A2-69C7-98AA-9B65-E940EC518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276475"/>
            <a:ext cx="33115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do</a:t>
            </a:r>
            <a:endParaRPr lang="fr-FR" altLang="fr-F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 = i + 1;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 </a:t>
            </a:r>
            <a:r>
              <a:rPr lang="fr-FR" altLang="fr-FR" sz="1800">
                <a:solidFill>
                  <a:srgbClr val="FF3399"/>
                </a:solidFill>
              </a:rPr>
              <a:t>while</a:t>
            </a:r>
            <a:r>
              <a:rPr lang="fr-FR" altLang="fr-FR" sz="1800"/>
              <a:t> (i &lt; 99);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BEF07885-6BFC-0C21-C405-0FD7DF337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Flux d'exécution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DBB293B2-1E1F-374F-7C0D-71355A97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1376958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dirty="0">
                <a:solidFill>
                  <a:srgbClr val="0000FF"/>
                </a:solidFill>
              </a:rPr>
              <a:t>Les boucles </a:t>
            </a:r>
            <a:r>
              <a:rPr lang="fr-FR" altLang="fr-FR" sz="2400" dirty="0">
                <a:solidFill>
                  <a:srgbClr val="0000FF"/>
                </a:solidFill>
                <a:sym typeface="Wingdings" panose="05000000000000000000" pitchFamily="2" charset="2"/>
              </a:rPr>
              <a:t> Pour…</a:t>
            </a:r>
            <a:r>
              <a:rPr lang="fr-FR" altLang="fr-FR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Finpour</a:t>
            </a:r>
            <a:endParaRPr lang="fr-FR" altLang="fr-FR" sz="2400" dirty="0">
              <a:solidFill>
                <a:srgbClr val="0000FF"/>
              </a:solidFill>
            </a:endParaRP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71AE11D5-2276-15BA-7845-CC2BE5BF8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89138"/>
            <a:ext cx="56165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for </a:t>
            </a:r>
            <a:r>
              <a:rPr lang="fr-FR" altLang="fr-FR" sz="1800"/>
              <a:t>(borne mini ; borne maxi ; incrément/décrément)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instructions;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277E078F-EF3E-6F96-CBCA-69208E408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357563"/>
            <a:ext cx="32400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for </a:t>
            </a:r>
            <a:r>
              <a:rPr lang="fr-FR" altLang="fr-FR" sz="1800"/>
              <a:t>(i = 1 ; i &lt;= 10 ; i++)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System.out.println(i);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</a:t>
            </a:r>
          </a:p>
        </p:txBody>
      </p:sp>
      <p:sp>
        <p:nvSpPr>
          <p:cNvPr id="22536" name="Rectangle 9">
            <a:extLst>
              <a:ext uri="{FF2B5EF4-FFF2-40B4-BE49-F238E27FC236}">
                <a16:creationId xmlns:a16="http://schemas.microsoft.com/office/drawing/2014/main" id="{C62EF1FC-E7B0-F992-82AC-20B53254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7563"/>
            <a:ext cx="36004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99"/>
                </a:solidFill>
              </a:rPr>
              <a:t>for </a:t>
            </a:r>
            <a:r>
              <a:rPr lang="fr-FR" altLang="fr-FR" sz="1800"/>
              <a:t>(i = 10 ; i &gt; 0 ; i--)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{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System.out.println(i);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>
            <a:extLst>
              <a:ext uri="{FF2B5EF4-FFF2-40B4-BE49-F238E27FC236}">
                <a16:creationId xmlns:a16="http://schemas.microsoft.com/office/drawing/2014/main" id="{2F94BC48-1C6B-4DD0-DB27-6BB7D61DE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Tableaux</a:t>
            </a:r>
          </a:p>
        </p:txBody>
      </p:sp>
      <p:sp>
        <p:nvSpPr>
          <p:cNvPr id="23557" name="Text Box 3">
            <a:extLst>
              <a:ext uri="{FF2B5EF4-FFF2-40B4-BE49-F238E27FC236}">
                <a16:creationId xmlns:a16="http://schemas.microsoft.com/office/drawing/2014/main" id="{12BC593A-B5D2-9C20-6D1B-D1097624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26841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Principe</a:t>
            </a:r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14CBA020-3C3C-1D81-94D2-A49A256B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75"/>
            <a:ext cx="824388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Un tableau est une structure de données qui stocke une série de valeurs de même type. Vous accédez à chaque valeur individuellement à l'aide d'un indice.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Exemple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Tab [i] </a:t>
            </a:r>
            <a:r>
              <a:rPr lang="fr-FR" altLang="fr-FR" sz="1600">
                <a:sym typeface="Wingdings" panose="05000000000000000000" pitchFamily="2" charset="2"/>
              </a:rPr>
              <a:t> est la i</a:t>
            </a:r>
            <a:r>
              <a:rPr lang="fr-FR" altLang="fr-FR" sz="1600" baseline="30000">
                <a:sym typeface="Wingdings" panose="05000000000000000000" pitchFamily="2" charset="2"/>
              </a:rPr>
              <a:t>ème</a:t>
            </a:r>
            <a:r>
              <a:rPr lang="fr-FR" altLang="fr-FR" sz="1600">
                <a:sym typeface="Wingdings" panose="05000000000000000000" pitchFamily="2" charset="2"/>
              </a:rPr>
              <a:t> valeur du tableau</a:t>
            </a:r>
            <a:endParaRPr lang="fr-FR" altLang="fr-FR" sz="1600"/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08AB6631-730F-8EAC-9CAD-7479DC004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997200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Déclaration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7554472D-C426-534F-EBCC-21D3E9B53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73463"/>
            <a:ext cx="8243887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Vous déclarez un tableau en spécifiant son type qui est le type d'élément suivi de [ ] et le nom de la variable tableau.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Exemple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</a:t>
            </a:r>
            <a:r>
              <a:rPr lang="fr-FR" altLang="fr-FR" sz="1600" dirty="0" err="1">
                <a:solidFill>
                  <a:srgbClr val="FF3399"/>
                </a:solidFill>
              </a:rPr>
              <a:t>int</a:t>
            </a:r>
            <a:r>
              <a:rPr lang="fr-FR" altLang="fr-FR" sz="1600" dirty="0">
                <a:solidFill>
                  <a:srgbClr val="FF3399"/>
                </a:solidFill>
              </a:rPr>
              <a:t> [ ] </a:t>
            </a:r>
            <a:r>
              <a:rPr lang="fr-FR" altLang="fr-FR" sz="1600" dirty="0" err="1">
                <a:solidFill>
                  <a:srgbClr val="FF3399"/>
                </a:solidFill>
              </a:rPr>
              <a:t>monTab</a:t>
            </a:r>
            <a:r>
              <a:rPr lang="fr-FR" altLang="fr-FR" sz="1600" dirty="0">
                <a:solidFill>
                  <a:srgbClr val="FF3399"/>
                </a:solidFill>
              </a:rPr>
              <a:t>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Cette instruction ne déclare toutefois que la variable </a:t>
            </a:r>
            <a:r>
              <a:rPr lang="fr-FR" altLang="fr-FR" sz="1600" dirty="0" err="1"/>
              <a:t>monTab</a:t>
            </a:r>
            <a:r>
              <a:rPr lang="fr-FR" altLang="fr-FR" sz="1600" dirty="0"/>
              <a:t>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Pour créer le tableau, il faut utiliser l'opérateur </a:t>
            </a:r>
            <a:r>
              <a:rPr lang="fr-FR" altLang="fr-FR" sz="1600" dirty="0">
                <a:solidFill>
                  <a:srgbClr val="FF3399"/>
                </a:solidFill>
              </a:rPr>
              <a:t>new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Exemple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</a:t>
            </a:r>
            <a:r>
              <a:rPr lang="fr-FR" altLang="fr-FR" sz="1600" dirty="0" err="1">
                <a:solidFill>
                  <a:srgbClr val="FF3399"/>
                </a:solidFill>
              </a:rPr>
              <a:t>int</a:t>
            </a:r>
            <a:r>
              <a:rPr lang="fr-FR" altLang="fr-FR" sz="1600" dirty="0">
                <a:solidFill>
                  <a:srgbClr val="FF3399"/>
                </a:solidFill>
              </a:rPr>
              <a:t> [ ] </a:t>
            </a:r>
            <a:r>
              <a:rPr lang="fr-FR" altLang="fr-FR" sz="1600" dirty="0" err="1">
                <a:solidFill>
                  <a:srgbClr val="FF3399"/>
                </a:solidFill>
              </a:rPr>
              <a:t>monTab</a:t>
            </a:r>
            <a:r>
              <a:rPr lang="fr-FR" altLang="fr-FR" sz="1600" dirty="0">
                <a:solidFill>
                  <a:srgbClr val="FF3399"/>
                </a:solidFill>
              </a:rPr>
              <a:t> = new </a:t>
            </a:r>
            <a:r>
              <a:rPr lang="fr-FR" altLang="fr-FR" sz="1600" dirty="0" err="1">
                <a:solidFill>
                  <a:srgbClr val="FF3399"/>
                </a:solidFill>
              </a:rPr>
              <a:t>int</a:t>
            </a:r>
            <a:r>
              <a:rPr lang="fr-FR" altLang="fr-FR" sz="1600" dirty="0">
                <a:solidFill>
                  <a:srgbClr val="FF3399"/>
                </a:solidFill>
              </a:rPr>
              <a:t> [100];</a:t>
            </a:r>
            <a:r>
              <a:rPr lang="fr-FR" altLang="fr-FR" sz="1600" dirty="0"/>
              <a:t>		// le tableau est maintenant créé.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				// il possède 100 éléments numérotés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/>
              <a:t>					// de 0 à 99 (</a:t>
            </a:r>
            <a:r>
              <a:rPr lang="fr-FR" altLang="fr-FR" sz="1600" dirty="0">
                <a:solidFill>
                  <a:srgbClr val="FF3399"/>
                </a:solidFill>
              </a:rPr>
              <a:t>et non de 1 à 100</a:t>
            </a:r>
            <a:r>
              <a:rPr lang="fr-FR" altLang="fr-FR" sz="1600" dirty="0"/>
              <a:t>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>
            <a:extLst>
              <a:ext uri="{FF2B5EF4-FFF2-40B4-BE49-F238E27FC236}">
                <a16:creationId xmlns:a16="http://schemas.microsoft.com/office/drawing/2014/main" id="{753F1069-9F5E-715E-7029-396D703A3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Tableaux</a:t>
            </a:r>
          </a:p>
        </p:txBody>
      </p:sp>
      <p:sp>
        <p:nvSpPr>
          <p:cNvPr id="24581" name="Text Box 3">
            <a:extLst>
              <a:ext uri="{FF2B5EF4-FFF2-40B4-BE49-F238E27FC236}">
                <a16:creationId xmlns:a16="http://schemas.microsoft.com/office/drawing/2014/main" id="{B6B5CC93-1EB6-8B44-E9C4-CFB160237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268413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Initialiseurs de tableaux</a:t>
            </a:r>
          </a:p>
        </p:txBody>
      </p:sp>
      <p:sp>
        <p:nvSpPr>
          <p:cNvPr id="24582" name="Rectangle 4">
            <a:extLst>
              <a:ext uri="{FF2B5EF4-FFF2-40B4-BE49-F238E27FC236}">
                <a16:creationId xmlns:a16="http://schemas.microsoft.com/office/drawing/2014/main" id="{38393827-EFD7-555E-D1E9-59F9954A7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773238"/>
            <a:ext cx="8243887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JAVA propose un raccourci pour créer un objet tableau et l'initialiser simultanément.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Voici un exemple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/>
              <a:t>	</a:t>
            </a:r>
            <a:r>
              <a:rPr lang="fr-FR" altLang="fr-FR" sz="1800" dirty="0" err="1">
                <a:solidFill>
                  <a:srgbClr val="FF3399"/>
                </a:solidFill>
              </a:rPr>
              <a:t>int</a:t>
            </a:r>
            <a:r>
              <a:rPr lang="fr-FR" altLang="fr-FR" sz="1800" dirty="0">
                <a:solidFill>
                  <a:srgbClr val="FF3399"/>
                </a:solidFill>
              </a:rPr>
              <a:t>[ ]  </a:t>
            </a:r>
            <a:r>
              <a:rPr lang="fr-FR" altLang="fr-FR" sz="1800" dirty="0" err="1">
                <a:solidFill>
                  <a:srgbClr val="FF3399"/>
                </a:solidFill>
              </a:rPr>
              <a:t>monTab</a:t>
            </a:r>
            <a:r>
              <a:rPr lang="fr-FR" altLang="fr-FR" sz="1800" dirty="0">
                <a:solidFill>
                  <a:srgbClr val="FF3399"/>
                </a:solidFill>
              </a:rPr>
              <a:t> = new </a:t>
            </a:r>
            <a:r>
              <a:rPr lang="fr-FR" altLang="fr-FR" sz="1800" dirty="0" err="1">
                <a:solidFill>
                  <a:srgbClr val="FF3399"/>
                </a:solidFill>
              </a:rPr>
              <a:t>int</a:t>
            </a:r>
            <a:r>
              <a:rPr lang="fr-FR" altLang="fr-FR" sz="1800" dirty="0">
                <a:solidFill>
                  <a:srgbClr val="FF3399"/>
                </a:solidFill>
              </a:rPr>
              <a:t>[ ] {2, 3, 5, 7, 11, 13};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solidFill>
                <a:srgbClr val="FF3399"/>
              </a:solidFill>
            </a:endParaRPr>
          </a:p>
        </p:txBody>
      </p:sp>
      <p:sp>
        <p:nvSpPr>
          <p:cNvPr id="24585" name="Text Box 10">
            <a:extLst>
              <a:ext uri="{FF2B5EF4-FFF2-40B4-BE49-F238E27FC236}">
                <a16:creationId xmlns:a16="http://schemas.microsoft.com/office/drawing/2014/main" id="{956D73A1-401A-FE2D-724E-8F33844DE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365625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0000FF"/>
                </a:solidFill>
              </a:rPr>
              <a:t>Multidimensionnel</a:t>
            </a:r>
          </a:p>
        </p:txBody>
      </p:sp>
      <p:sp>
        <p:nvSpPr>
          <p:cNvPr id="24586" name="Text Box 11">
            <a:extLst>
              <a:ext uri="{FF2B5EF4-FFF2-40B4-BE49-F238E27FC236}">
                <a16:creationId xmlns:a16="http://schemas.microsoft.com/office/drawing/2014/main" id="{9CD2160A-1FB7-5386-3ACD-3C57C60F4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941888"/>
            <a:ext cx="799306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Exemple 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int [ ] [ ] balance;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balance = </a:t>
            </a:r>
            <a:r>
              <a:rPr lang="fr-FR" altLang="fr-FR" sz="1800">
                <a:solidFill>
                  <a:srgbClr val="FF3399"/>
                </a:solidFill>
              </a:rPr>
              <a:t>new</a:t>
            </a:r>
            <a:r>
              <a:rPr lang="fr-FR" altLang="fr-FR" sz="1800"/>
              <a:t> int [10] [6]; 		//10 lignes et 6 colonnes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F69A48EE-B8FF-8E7B-9AA7-A2FCB39D1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>
                <a:solidFill>
                  <a:schemeClr val="folHlink"/>
                </a:solidFill>
              </a:rPr>
              <a:t>Saisie Clavier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79AEDE50-993C-FB12-59A9-9334B062BB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600200"/>
            <a:ext cx="8712646" cy="4983162"/>
          </a:xfrm>
        </p:spPr>
        <p:txBody>
          <a:bodyPr>
            <a:normAutofit/>
          </a:bodyPr>
          <a:lstStyle/>
          <a:p>
            <a:pPr indent="-160338" eaLnBrk="1" hangingPunct="1">
              <a:buFontTx/>
              <a:buNone/>
            </a:pPr>
            <a:r>
              <a:rPr lang="en-US" altLang="fr-FR" sz="1600" dirty="0" err="1">
                <a:solidFill>
                  <a:srgbClr val="FF3399"/>
                </a:solidFill>
              </a:rPr>
              <a:t>Exemple</a:t>
            </a:r>
            <a:r>
              <a:rPr lang="en-US" altLang="fr-FR" sz="1600" dirty="0">
                <a:solidFill>
                  <a:srgbClr val="FF3399"/>
                </a:solidFill>
              </a:rPr>
              <a:t> 1 : Dans la </a:t>
            </a:r>
            <a:r>
              <a:rPr lang="en-US" altLang="fr-FR" sz="1600" dirty="0" err="1">
                <a:solidFill>
                  <a:srgbClr val="FF3399"/>
                </a:solidFill>
              </a:rPr>
              <a:t>partie</a:t>
            </a:r>
            <a:r>
              <a:rPr lang="en-US" altLang="fr-FR" sz="1600" dirty="0">
                <a:solidFill>
                  <a:srgbClr val="FF3399"/>
                </a:solidFill>
              </a:rPr>
              <a:t> </a:t>
            </a:r>
            <a:r>
              <a:rPr lang="en-US" altLang="fr-FR" sz="1600" dirty="0" err="1">
                <a:solidFill>
                  <a:srgbClr val="FF3399"/>
                </a:solidFill>
              </a:rPr>
              <a:t>déclaration</a:t>
            </a:r>
            <a:r>
              <a:rPr lang="en-US" altLang="fr-FR" sz="1600" dirty="0">
                <a:solidFill>
                  <a:srgbClr val="FF3399"/>
                </a:solidFill>
              </a:rPr>
              <a:t>, </a:t>
            </a:r>
            <a:r>
              <a:rPr lang="en-US" altLang="fr-FR" sz="1600" dirty="0" err="1">
                <a:solidFill>
                  <a:srgbClr val="FF3399"/>
                </a:solidFill>
              </a:rPr>
              <a:t>vous</a:t>
            </a:r>
            <a:r>
              <a:rPr lang="en-US" altLang="fr-FR" sz="1600" dirty="0">
                <a:solidFill>
                  <a:srgbClr val="FF3399"/>
                </a:solidFill>
              </a:rPr>
              <a:t> </a:t>
            </a:r>
            <a:r>
              <a:rPr lang="en-US" altLang="fr-FR" sz="1600" dirty="0" err="1">
                <a:solidFill>
                  <a:srgbClr val="FF3399"/>
                </a:solidFill>
              </a:rPr>
              <a:t>devez</a:t>
            </a:r>
            <a:r>
              <a:rPr lang="en-US" altLang="fr-FR" sz="1600" dirty="0">
                <a:solidFill>
                  <a:srgbClr val="FF3399"/>
                </a:solidFill>
              </a:rPr>
              <a:t> </a:t>
            </a:r>
            <a:r>
              <a:rPr lang="en-US" altLang="fr-FR" sz="1600" dirty="0" err="1">
                <a:solidFill>
                  <a:srgbClr val="FF3399"/>
                </a:solidFill>
              </a:rPr>
              <a:t>écrire</a:t>
            </a:r>
            <a:r>
              <a:rPr lang="en-US" altLang="fr-FR" sz="1600" dirty="0">
                <a:solidFill>
                  <a:srgbClr val="FF3399"/>
                </a:solidFill>
              </a:rPr>
              <a:t> les </a:t>
            </a:r>
            <a:r>
              <a:rPr lang="en-US" altLang="fr-FR" sz="1600" dirty="0" err="1">
                <a:solidFill>
                  <a:srgbClr val="FF3399"/>
                </a:solidFill>
              </a:rPr>
              <a:t>lignes</a:t>
            </a:r>
            <a:r>
              <a:rPr lang="en-US" altLang="fr-FR" sz="1600" dirty="0">
                <a:solidFill>
                  <a:srgbClr val="FF3399"/>
                </a:solidFill>
              </a:rPr>
              <a:t> </a:t>
            </a:r>
            <a:r>
              <a:rPr lang="en-US" altLang="fr-FR" sz="1600" dirty="0" err="1">
                <a:solidFill>
                  <a:srgbClr val="FF3399"/>
                </a:solidFill>
              </a:rPr>
              <a:t>suivantes</a:t>
            </a:r>
            <a:r>
              <a:rPr lang="en-US" altLang="fr-FR" sz="1600" dirty="0">
                <a:solidFill>
                  <a:srgbClr val="FF3399"/>
                </a:solidFill>
              </a:rPr>
              <a:t> :</a:t>
            </a:r>
          </a:p>
          <a:p>
            <a:pPr indent="-160338" eaLnBrk="1" hangingPunct="1">
              <a:buFontTx/>
              <a:buNone/>
            </a:pPr>
            <a:r>
              <a:rPr lang="en-US" altLang="fr-FR" sz="1600" dirty="0"/>
              <a:t>Scanner </a:t>
            </a:r>
            <a:r>
              <a:rPr lang="en-US" altLang="fr-FR" sz="1600" dirty="0" err="1"/>
              <a:t>scanner</a:t>
            </a:r>
            <a:r>
              <a:rPr lang="en-US" altLang="fr-FR" sz="1600" dirty="0"/>
              <a:t> = new Scanner(System.in);</a:t>
            </a:r>
          </a:p>
          <a:p>
            <a:pPr indent="-160338" eaLnBrk="1" hangingPunct="1">
              <a:buFontTx/>
              <a:buNone/>
            </a:pPr>
            <a:r>
              <a:rPr lang="en-US" altLang="fr-FR" sz="1600" dirty="0"/>
              <a:t>int </a:t>
            </a:r>
            <a:r>
              <a:rPr lang="en-US" altLang="fr-FR" sz="1600" dirty="0" err="1"/>
              <a:t>nbkm</a:t>
            </a:r>
            <a:r>
              <a:rPr lang="en-US" altLang="fr-FR" sz="1600" dirty="0"/>
              <a:t>; // </a:t>
            </a:r>
            <a:r>
              <a:rPr lang="en-US" altLang="fr-FR" sz="1600" dirty="0">
                <a:solidFill>
                  <a:srgbClr val="0000FF"/>
                </a:solidFill>
              </a:rPr>
              <a:t>variable de type </a:t>
            </a:r>
            <a:r>
              <a:rPr lang="en-US" altLang="fr-FR" sz="1600" dirty="0" err="1">
                <a:solidFill>
                  <a:srgbClr val="0000FF"/>
                </a:solidFill>
              </a:rPr>
              <a:t>entier</a:t>
            </a:r>
            <a:endParaRPr lang="en-US" altLang="fr-FR" sz="1600" dirty="0">
              <a:solidFill>
                <a:srgbClr val="0000FF"/>
              </a:solidFill>
            </a:endParaRPr>
          </a:p>
          <a:p>
            <a:pPr indent="-160338" eaLnBrk="1" hangingPunct="1">
              <a:buFontTx/>
              <a:buNone/>
            </a:pPr>
            <a:r>
              <a:rPr lang="en-US" altLang="fr-FR" sz="1600" dirty="0"/>
              <a:t>String </a:t>
            </a:r>
            <a:r>
              <a:rPr lang="en-US" altLang="fr-FR" sz="1600" dirty="0" err="1"/>
              <a:t>ligne</a:t>
            </a:r>
            <a:r>
              <a:rPr lang="en-US" altLang="fr-FR" sz="1600" dirty="0"/>
              <a:t>; // </a:t>
            </a:r>
            <a:r>
              <a:rPr lang="en-US" altLang="fr-FR" sz="1600" dirty="0">
                <a:solidFill>
                  <a:srgbClr val="0000FF"/>
                </a:solidFill>
              </a:rPr>
              <a:t>variable de type </a:t>
            </a:r>
            <a:r>
              <a:rPr lang="en-US" altLang="fr-FR" sz="1600" dirty="0" err="1">
                <a:solidFill>
                  <a:srgbClr val="0000FF"/>
                </a:solidFill>
              </a:rPr>
              <a:t>Chaîne</a:t>
            </a:r>
            <a:endParaRPr lang="en-US" altLang="fr-FR" sz="1600" dirty="0">
              <a:solidFill>
                <a:srgbClr val="0000FF"/>
              </a:solidFill>
            </a:endParaRPr>
          </a:p>
          <a:p>
            <a:pPr indent="-160338" eaLnBrk="1" hangingPunct="1">
              <a:buFontTx/>
              <a:buNone/>
            </a:pPr>
            <a:endParaRPr lang="en-US" altLang="fr-FR" sz="1600" dirty="0">
              <a:solidFill>
                <a:srgbClr val="0000FF"/>
              </a:solidFill>
            </a:endParaRPr>
          </a:p>
          <a:p>
            <a:pPr indent="-160338" eaLnBrk="1" hangingPunct="1">
              <a:buFontTx/>
              <a:buNone/>
            </a:pPr>
            <a:r>
              <a:rPr lang="fr-FR" altLang="fr-FR" sz="1800" dirty="0"/>
              <a:t>// </a:t>
            </a:r>
            <a:r>
              <a:rPr lang="fr-FR" altLang="fr-FR" sz="1600" dirty="0">
                <a:solidFill>
                  <a:srgbClr val="0000FF"/>
                </a:solidFill>
              </a:rPr>
              <a:t>message affiché à l'écran</a:t>
            </a:r>
            <a:endParaRPr lang="fr-FR" altLang="fr-FR" sz="1600" dirty="0"/>
          </a:p>
          <a:p>
            <a:pPr indent="-160338" eaLnBrk="1" hangingPunct="1">
              <a:buFontTx/>
              <a:buNone/>
            </a:pPr>
            <a:r>
              <a:rPr lang="fr-FR" altLang="fr-FR" sz="1600" dirty="0" err="1"/>
              <a:t>System.out.println</a:t>
            </a:r>
            <a:r>
              <a:rPr lang="fr-FR" altLang="fr-FR" sz="1600" dirty="0"/>
              <a:t>("Veuillez saisir un nombre de Kilomètres"); </a:t>
            </a:r>
          </a:p>
          <a:p>
            <a:pPr indent="-160338" eaLnBrk="1" hangingPunct="1">
              <a:buFontTx/>
              <a:buNone/>
            </a:pPr>
            <a:r>
              <a:rPr lang="fr-FR" altLang="fr-FR" sz="1600" dirty="0"/>
              <a:t>// </a:t>
            </a:r>
            <a:r>
              <a:rPr lang="fr-FR" altLang="fr-FR" sz="1400" dirty="0">
                <a:solidFill>
                  <a:srgbClr val="0000FF"/>
                </a:solidFill>
              </a:rPr>
              <a:t>on récupère la valeur saisie dans la variable</a:t>
            </a:r>
          </a:p>
          <a:p>
            <a:pPr indent="-160338" eaLnBrk="1" hangingPunct="1">
              <a:buFontTx/>
              <a:buNone/>
            </a:pPr>
            <a:r>
              <a:rPr lang="fr-FR" altLang="fr-FR" sz="1600" dirty="0" err="1"/>
              <a:t>nbkm</a:t>
            </a:r>
            <a:r>
              <a:rPr lang="fr-FR" altLang="fr-FR" sz="1600" dirty="0"/>
              <a:t> = </a:t>
            </a:r>
            <a:r>
              <a:rPr lang="fr-FR" altLang="fr-FR" sz="1600" dirty="0" err="1"/>
              <a:t>scanner.nextInt</a:t>
            </a:r>
            <a:r>
              <a:rPr lang="fr-FR" altLang="fr-FR" sz="1600" dirty="0"/>
              <a:t>(); </a:t>
            </a:r>
          </a:p>
          <a:p>
            <a:pPr indent="-160338">
              <a:buNone/>
            </a:pPr>
            <a:r>
              <a:rPr lang="fr-FR" altLang="fr-FR" sz="1400" dirty="0" err="1"/>
              <a:t>System.out.println</a:t>
            </a:r>
            <a:r>
              <a:rPr lang="fr-FR" altLang="fr-FR" sz="1400" dirty="0"/>
              <a:t>("Veuillez saisir votre phrase : "); </a:t>
            </a:r>
          </a:p>
          <a:p>
            <a:pPr indent="-160338">
              <a:buNone/>
            </a:pPr>
            <a:r>
              <a:rPr lang="en-US" altLang="fr-FR" sz="1400" dirty="0" err="1"/>
              <a:t>ligne</a:t>
            </a:r>
            <a:r>
              <a:rPr lang="fr-FR" altLang="fr-FR" sz="1400" dirty="0"/>
              <a:t> = </a:t>
            </a:r>
            <a:r>
              <a:rPr lang="fr-FR" altLang="fr-FR" sz="1400" dirty="0" err="1"/>
              <a:t>scanner.next</a:t>
            </a:r>
            <a:r>
              <a:rPr lang="fr-FR" altLang="fr-FR" sz="1400" dirty="0"/>
              <a:t>(); </a:t>
            </a:r>
          </a:p>
          <a:p>
            <a:pPr indent="-160338" eaLnBrk="1" hangingPunct="1">
              <a:buFontTx/>
              <a:buNone/>
            </a:pPr>
            <a:endParaRPr lang="fr-FR" altLang="fr-FR" sz="1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PowerPointPerso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PowerPointPerso" id="{650A3010-CD89-4E71-99DB-01BC13B00E77}" vid="{88D4F86B-434D-4471-8063-2D3704BF59AD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ThemePowerPointPerso</Template>
  <TotalTime>0</TotalTime>
  <Words>1539</Words>
  <Application>Microsoft Office PowerPoint</Application>
  <PresentationFormat>Affichage à l'écran (4:3)</PresentationFormat>
  <Paragraphs>313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Print</vt:lpstr>
      <vt:lpstr>Wingdings</vt:lpstr>
      <vt:lpstr>ThemePowerPointPerso</vt:lpstr>
      <vt:lpstr>JAVA Eléments de programmation</vt:lpstr>
      <vt:lpstr>PLAN</vt:lpstr>
      <vt:lpstr>Un exemple</vt:lpstr>
      <vt:lpstr>Type de données</vt:lpstr>
      <vt:lpstr>Type de données</vt:lpstr>
      <vt:lpstr>Type de données</vt:lpstr>
      <vt:lpstr>Type de données</vt:lpstr>
      <vt:lpstr>Variables</vt:lpstr>
      <vt:lpstr>Affectations et initialisations</vt:lpstr>
      <vt:lpstr>Opérateurs</vt:lpstr>
      <vt:lpstr>Opérateurs</vt:lpstr>
      <vt:lpstr>Opérateurs</vt:lpstr>
      <vt:lpstr>Chaînes</vt:lpstr>
      <vt:lpstr>Flux d'exécution</vt:lpstr>
      <vt:lpstr>Flux d'exécution</vt:lpstr>
      <vt:lpstr>Flux d'exécution</vt:lpstr>
      <vt:lpstr>Flux d'exécution</vt:lpstr>
      <vt:lpstr>Flux d'exécution</vt:lpstr>
      <vt:lpstr>Flux d'exécution</vt:lpstr>
      <vt:lpstr>Tableaux</vt:lpstr>
      <vt:lpstr>Tableaux</vt:lpstr>
      <vt:lpstr>Saisie Clavier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langage JAVA</dc:title>
  <dc:creator>Jacques</dc:creator>
  <cp:lastModifiedBy>Jacques BUFFETEAU</cp:lastModifiedBy>
  <cp:revision>92</cp:revision>
  <dcterms:created xsi:type="dcterms:W3CDTF">2003-09-12T08:46:01Z</dcterms:created>
  <dcterms:modified xsi:type="dcterms:W3CDTF">2024-09-28T16:44:34Z</dcterms:modified>
</cp:coreProperties>
</file>